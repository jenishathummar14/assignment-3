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itter" charset="1" panose="02000000000000000000"/>
      <p:regular r:id="rId21"/>
    </p:embeddedFont>
    <p:embeddedFont>
      <p:font typeface="Open Sans" charset="1" panose="00000000000000000000"/>
      <p:regular r:id="rId22"/>
    </p:embeddedFont>
    <p:embeddedFont>
      <p:font typeface="Open Sans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1028700" y="-641449"/>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850237" y="2715817"/>
            <a:ext cx="9445526" cy="1786234"/>
            <a:chOff x="0" y="0"/>
            <a:chExt cx="12594035" cy="2381646"/>
          </a:xfrm>
        </p:grpSpPr>
        <p:sp>
          <p:nvSpPr>
            <p:cNvPr name="Freeform 9" id="9"/>
            <p:cNvSpPr/>
            <p:nvPr/>
          </p:nvSpPr>
          <p:spPr>
            <a:xfrm flipH="false" flipV="false" rot="0">
              <a:off x="0" y="0"/>
              <a:ext cx="12594034" cy="2381646"/>
            </a:xfrm>
            <a:custGeom>
              <a:avLst/>
              <a:gdLst/>
              <a:ahLst/>
              <a:cxnLst/>
              <a:rect r="r" b="b" t="t" l="l"/>
              <a:pathLst>
                <a:path h="2381646" w="12594034">
                  <a:moveTo>
                    <a:pt x="0" y="0"/>
                  </a:moveTo>
                  <a:lnTo>
                    <a:pt x="12594034" y="0"/>
                  </a:lnTo>
                  <a:lnTo>
                    <a:pt x="12594034" y="2381646"/>
                  </a:lnTo>
                  <a:lnTo>
                    <a:pt x="0" y="2381646"/>
                  </a:lnTo>
                  <a:close/>
                </a:path>
              </a:pathLst>
            </a:custGeom>
            <a:solidFill>
              <a:srgbClr val="000000">
                <a:alpha val="0"/>
              </a:srgbClr>
            </a:solidFill>
          </p:spPr>
        </p:sp>
        <p:sp>
          <p:nvSpPr>
            <p:cNvPr name="TextBox 10" id="10"/>
            <p:cNvSpPr txBox="true"/>
            <p:nvPr/>
          </p:nvSpPr>
          <p:spPr>
            <a:xfrm>
              <a:off x="0" y="-19050"/>
              <a:ext cx="12594035" cy="2400696"/>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TensorFlow in Python: An Introduction</a:t>
              </a:r>
            </a:p>
          </p:txBody>
        </p:sp>
      </p:grpSp>
      <p:grpSp>
        <p:nvGrpSpPr>
          <p:cNvPr name="Group 11" id="11"/>
          <p:cNvGrpSpPr/>
          <p:nvPr/>
        </p:nvGrpSpPr>
        <p:grpSpPr>
          <a:xfrm rot="0">
            <a:off x="7850237" y="4862958"/>
            <a:ext cx="9445526" cy="1878806"/>
            <a:chOff x="0" y="0"/>
            <a:chExt cx="12594035" cy="2505074"/>
          </a:xfrm>
        </p:grpSpPr>
        <p:sp>
          <p:nvSpPr>
            <p:cNvPr name="Freeform 12" id="12"/>
            <p:cNvSpPr/>
            <p:nvPr/>
          </p:nvSpPr>
          <p:spPr>
            <a:xfrm flipH="false" flipV="false" rot="0">
              <a:off x="0" y="0"/>
              <a:ext cx="12594034" cy="2505074"/>
            </a:xfrm>
            <a:custGeom>
              <a:avLst/>
              <a:gdLst/>
              <a:ahLst/>
              <a:cxnLst/>
              <a:rect r="r" b="b" t="t" l="l"/>
              <a:pathLst>
                <a:path h="2505074" w="12594034">
                  <a:moveTo>
                    <a:pt x="0" y="0"/>
                  </a:moveTo>
                  <a:lnTo>
                    <a:pt x="12594034" y="0"/>
                  </a:lnTo>
                  <a:lnTo>
                    <a:pt x="12594034" y="2505074"/>
                  </a:lnTo>
                  <a:lnTo>
                    <a:pt x="0" y="2505074"/>
                  </a:lnTo>
                  <a:close/>
                </a:path>
              </a:pathLst>
            </a:custGeom>
            <a:solidFill>
              <a:srgbClr val="000000">
                <a:alpha val="0"/>
              </a:srgbClr>
            </a:solidFill>
          </p:spPr>
        </p:sp>
        <p:sp>
          <p:nvSpPr>
            <p:cNvPr name="TextBox 13" id="13"/>
            <p:cNvSpPr txBox="true"/>
            <p:nvPr/>
          </p:nvSpPr>
          <p:spPr>
            <a:xfrm>
              <a:off x="0" y="-85725"/>
              <a:ext cx="12594035" cy="259079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This presentation explores TensorFlow, a powerful open-source ML framework. We will cover key features such as its computational graph. We'll delve into why Python is ideal. Also we will compare TensorFlow versions. Get ready to unlock the potential of TensorFlow with Python.</a:t>
              </a:r>
            </a:p>
          </p:txBody>
        </p:sp>
      </p:grpSp>
      <p:sp>
        <p:nvSpPr>
          <p:cNvPr name="Freeform 14" id="14"/>
          <p:cNvSpPr/>
          <p:nvPr/>
        </p:nvSpPr>
        <p:spPr>
          <a:xfrm flipH="false" flipV="false" rot="0">
            <a:off x="7845475" y="7077075"/>
            <a:ext cx="463201" cy="463201"/>
          </a:xfrm>
          <a:custGeom>
            <a:avLst/>
            <a:gdLst/>
            <a:ahLst/>
            <a:cxnLst/>
            <a:rect r="r" b="b" t="t" l="l"/>
            <a:pathLst>
              <a:path h="463201" w="463201">
                <a:moveTo>
                  <a:pt x="0" y="0"/>
                </a:moveTo>
                <a:lnTo>
                  <a:pt x="463201" y="0"/>
                </a:lnTo>
                <a:lnTo>
                  <a:pt x="463201" y="463201"/>
                </a:lnTo>
                <a:lnTo>
                  <a:pt x="0" y="4632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8445550" y="7024985"/>
            <a:ext cx="3827221" cy="1671185"/>
            <a:chOff x="0" y="0"/>
            <a:chExt cx="3215284" cy="1403978"/>
          </a:xfrm>
        </p:grpSpPr>
        <p:sp>
          <p:nvSpPr>
            <p:cNvPr name="Freeform 16" id="16"/>
            <p:cNvSpPr/>
            <p:nvPr/>
          </p:nvSpPr>
          <p:spPr>
            <a:xfrm flipH="false" flipV="false" rot="0">
              <a:off x="0" y="0"/>
              <a:ext cx="3215284" cy="1403978"/>
            </a:xfrm>
            <a:custGeom>
              <a:avLst/>
              <a:gdLst/>
              <a:ahLst/>
              <a:cxnLst/>
              <a:rect r="r" b="b" t="t" l="l"/>
              <a:pathLst>
                <a:path h="1403978" w="3215284">
                  <a:moveTo>
                    <a:pt x="0" y="0"/>
                  </a:moveTo>
                  <a:lnTo>
                    <a:pt x="3215284" y="0"/>
                  </a:lnTo>
                  <a:lnTo>
                    <a:pt x="3215284" y="1403978"/>
                  </a:lnTo>
                  <a:lnTo>
                    <a:pt x="0" y="1403978"/>
                  </a:lnTo>
                  <a:close/>
                </a:path>
              </a:pathLst>
            </a:custGeom>
            <a:solidFill>
              <a:srgbClr val="000000">
                <a:alpha val="0"/>
              </a:srgbClr>
            </a:solidFill>
          </p:spPr>
        </p:sp>
        <p:sp>
          <p:nvSpPr>
            <p:cNvPr name="TextBox 17" id="17"/>
            <p:cNvSpPr txBox="true"/>
            <p:nvPr/>
          </p:nvSpPr>
          <p:spPr>
            <a:xfrm>
              <a:off x="0" y="-47625"/>
              <a:ext cx="3215284" cy="1451603"/>
            </a:xfrm>
            <a:prstGeom prst="rect">
              <a:avLst/>
            </a:prstGeom>
          </p:spPr>
          <p:txBody>
            <a:bodyPr anchor="t" rtlCol="false" tIns="0" lIns="0" bIns="0" rIns="0"/>
            <a:lstStyle/>
            <a:p>
              <a:pPr algn="l">
                <a:lnSpc>
                  <a:spcPts val="3874"/>
                </a:lnSpc>
              </a:pPr>
              <a:r>
                <a:rPr lang="en-US" b="true" sz="2750" spc="-45">
                  <a:solidFill>
                    <a:srgbClr val="2B2E3C"/>
                  </a:solidFill>
                  <a:latin typeface="Open Sans Bold"/>
                  <a:ea typeface="Open Sans Bold"/>
                  <a:cs typeface="Open Sans Bold"/>
                  <a:sym typeface="Open Sans Bold"/>
                </a:rPr>
                <a:t>by Jenisha Thummar</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992238" y="3001118"/>
            <a:ext cx="12092136" cy="900262"/>
            <a:chOff x="0" y="0"/>
            <a:chExt cx="16122848" cy="1200349"/>
          </a:xfrm>
        </p:grpSpPr>
        <p:sp>
          <p:nvSpPr>
            <p:cNvPr name="Freeform 7" id="7"/>
            <p:cNvSpPr/>
            <p:nvPr/>
          </p:nvSpPr>
          <p:spPr>
            <a:xfrm flipH="false" flipV="false" rot="0">
              <a:off x="0" y="0"/>
              <a:ext cx="16122848" cy="1200349"/>
            </a:xfrm>
            <a:custGeom>
              <a:avLst/>
              <a:gdLst/>
              <a:ahLst/>
              <a:cxnLst/>
              <a:rect r="r" b="b" t="t" l="l"/>
              <a:pathLst>
                <a:path h="1200349" w="16122848">
                  <a:moveTo>
                    <a:pt x="0" y="0"/>
                  </a:moveTo>
                  <a:lnTo>
                    <a:pt x="16122848" y="0"/>
                  </a:lnTo>
                  <a:lnTo>
                    <a:pt x="16122848" y="1200349"/>
                  </a:lnTo>
                  <a:lnTo>
                    <a:pt x="0" y="1200349"/>
                  </a:lnTo>
                  <a:close/>
                </a:path>
              </a:pathLst>
            </a:custGeom>
            <a:solidFill>
              <a:srgbClr val="000000">
                <a:alpha val="0"/>
              </a:srgbClr>
            </a:solidFill>
          </p:spPr>
        </p:sp>
        <p:sp>
          <p:nvSpPr>
            <p:cNvPr name="TextBox 8" id="8"/>
            <p:cNvSpPr txBox="true"/>
            <p:nvPr/>
          </p:nvSpPr>
          <p:spPr>
            <a:xfrm>
              <a:off x="0" y="-19050"/>
              <a:ext cx="16122848" cy="1219399"/>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Core Concepts: Tensors and Operations</a:t>
              </a:r>
            </a:p>
          </p:txBody>
        </p:sp>
      </p:grpSp>
      <p:grpSp>
        <p:nvGrpSpPr>
          <p:cNvPr name="Group 9" id="9"/>
          <p:cNvGrpSpPr/>
          <p:nvPr/>
        </p:nvGrpSpPr>
        <p:grpSpPr>
          <a:xfrm rot="0">
            <a:off x="992238" y="4595813"/>
            <a:ext cx="3544044" cy="457199"/>
            <a:chOff x="0" y="0"/>
            <a:chExt cx="4725392" cy="609599"/>
          </a:xfrm>
        </p:grpSpPr>
        <p:sp>
          <p:nvSpPr>
            <p:cNvPr name="Freeform 10" id="10"/>
            <p:cNvSpPr/>
            <p:nvPr/>
          </p:nvSpPr>
          <p:spPr>
            <a:xfrm flipH="false" flipV="false" rot="0">
              <a:off x="0" y="0"/>
              <a:ext cx="4725392" cy="609599"/>
            </a:xfrm>
            <a:custGeom>
              <a:avLst/>
              <a:gdLst/>
              <a:ahLst/>
              <a:cxnLst/>
              <a:rect r="r" b="b" t="t" l="l"/>
              <a:pathLst>
                <a:path h="609599" w="4725392">
                  <a:moveTo>
                    <a:pt x="0" y="0"/>
                  </a:moveTo>
                  <a:lnTo>
                    <a:pt x="4725392" y="0"/>
                  </a:lnTo>
                  <a:lnTo>
                    <a:pt x="4725392" y="609599"/>
                  </a:lnTo>
                  <a:lnTo>
                    <a:pt x="0" y="609599"/>
                  </a:lnTo>
                  <a:close/>
                </a:path>
              </a:pathLst>
            </a:custGeom>
            <a:solidFill>
              <a:srgbClr val="000000">
                <a:alpha val="0"/>
              </a:srgbClr>
            </a:solidFill>
          </p:spPr>
        </p:sp>
        <p:sp>
          <p:nvSpPr>
            <p:cNvPr name="TextBox 11" id="11"/>
            <p:cNvSpPr txBox="true"/>
            <p:nvPr/>
          </p:nvSpPr>
          <p:spPr>
            <a:xfrm>
              <a:off x="0" y="-19050"/>
              <a:ext cx="4725392" cy="628649"/>
            </a:xfrm>
            <a:prstGeom prst="rect">
              <a:avLst/>
            </a:prstGeom>
          </p:spPr>
          <p:txBody>
            <a:bodyPr anchor="t" rtlCol="false" tIns="0" lIns="0" bIns="0" rIns="0"/>
            <a:lstStyle/>
            <a:p>
              <a:pPr algn="l">
                <a:lnSpc>
                  <a:spcPts val="3436"/>
                </a:lnSpc>
              </a:pPr>
              <a:r>
                <a:rPr lang="en-US" sz="2750" spc="-83">
                  <a:solidFill>
                    <a:srgbClr val="2C3F42"/>
                  </a:solidFill>
                  <a:latin typeface="Bitter"/>
                  <a:ea typeface="Bitter"/>
                  <a:cs typeface="Bitter"/>
                  <a:sym typeface="Bitter"/>
                </a:rPr>
                <a:t>What are Tensors?</a:t>
              </a:r>
            </a:p>
          </p:txBody>
        </p:sp>
      </p:grpSp>
      <p:grpSp>
        <p:nvGrpSpPr>
          <p:cNvPr name="Group 12" id="12"/>
          <p:cNvGrpSpPr/>
          <p:nvPr/>
        </p:nvGrpSpPr>
        <p:grpSpPr>
          <a:xfrm rot="0">
            <a:off x="992238" y="5272236"/>
            <a:ext cx="7805886" cy="971550"/>
            <a:chOff x="0" y="0"/>
            <a:chExt cx="10407848" cy="1295400"/>
          </a:xfrm>
        </p:grpSpPr>
        <p:sp>
          <p:nvSpPr>
            <p:cNvPr name="Freeform 13" id="13"/>
            <p:cNvSpPr/>
            <p:nvPr/>
          </p:nvSpPr>
          <p:spPr>
            <a:xfrm flipH="false" flipV="false" rot="0">
              <a:off x="0" y="0"/>
              <a:ext cx="10407848" cy="1295400"/>
            </a:xfrm>
            <a:custGeom>
              <a:avLst/>
              <a:gdLst/>
              <a:ahLst/>
              <a:cxnLst/>
              <a:rect r="r" b="b" t="t" l="l"/>
              <a:pathLst>
                <a:path h="1295400" w="10407848">
                  <a:moveTo>
                    <a:pt x="0" y="0"/>
                  </a:moveTo>
                  <a:lnTo>
                    <a:pt x="10407848" y="0"/>
                  </a:lnTo>
                  <a:lnTo>
                    <a:pt x="10407848" y="1295400"/>
                  </a:lnTo>
                  <a:lnTo>
                    <a:pt x="0" y="1295400"/>
                  </a:lnTo>
                  <a:close/>
                </a:path>
              </a:pathLst>
            </a:custGeom>
            <a:solidFill>
              <a:srgbClr val="000000">
                <a:alpha val="0"/>
              </a:srgbClr>
            </a:solidFill>
          </p:spPr>
        </p:sp>
        <p:sp>
          <p:nvSpPr>
            <p:cNvPr name="TextBox 14" id="14"/>
            <p:cNvSpPr txBox="true"/>
            <p:nvPr/>
          </p:nvSpPr>
          <p:spPr>
            <a:xfrm>
              <a:off x="0" y="-85725"/>
              <a:ext cx="10407848"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Tensors are the fundamental data structure in TensorFlow. They are multi-dimensional arrays that hold numerical values.</a:t>
              </a:r>
            </a:p>
          </p:txBody>
        </p:sp>
      </p:grpSp>
      <p:grpSp>
        <p:nvGrpSpPr>
          <p:cNvPr name="Group 15" id="15"/>
          <p:cNvGrpSpPr/>
          <p:nvPr/>
        </p:nvGrpSpPr>
        <p:grpSpPr>
          <a:xfrm rot="0">
            <a:off x="9499401" y="4595813"/>
            <a:ext cx="3544044" cy="457199"/>
            <a:chOff x="0" y="0"/>
            <a:chExt cx="4725392" cy="609599"/>
          </a:xfrm>
        </p:grpSpPr>
        <p:sp>
          <p:nvSpPr>
            <p:cNvPr name="Freeform 16" id="16"/>
            <p:cNvSpPr/>
            <p:nvPr/>
          </p:nvSpPr>
          <p:spPr>
            <a:xfrm flipH="false" flipV="false" rot="0">
              <a:off x="0" y="0"/>
              <a:ext cx="4725392" cy="609599"/>
            </a:xfrm>
            <a:custGeom>
              <a:avLst/>
              <a:gdLst/>
              <a:ahLst/>
              <a:cxnLst/>
              <a:rect r="r" b="b" t="t" l="l"/>
              <a:pathLst>
                <a:path h="609599" w="4725392">
                  <a:moveTo>
                    <a:pt x="0" y="0"/>
                  </a:moveTo>
                  <a:lnTo>
                    <a:pt x="4725392" y="0"/>
                  </a:lnTo>
                  <a:lnTo>
                    <a:pt x="4725392" y="609599"/>
                  </a:lnTo>
                  <a:lnTo>
                    <a:pt x="0" y="609599"/>
                  </a:lnTo>
                  <a:close/>
                </a:path>
              </a:pathLst>
            </a:custGeom>
            <a:solidFill>
              <a:srgbClr val="000000">
                <a:alpha val="0"/>
              </a:srgbClr>
            </a:solidFill>
          </p:spPr>
        </p:sp>
        <p:sp>
          <p:nvSpPr>
            <p:cNvPr name="TextBox 17" id="17"/>
            <p:cNvSpPr txBox="true"/>
            <p:nvPr/>
          </p:nvSpPr>
          <p:spPr>
            <a:xfrm>
              <a:off x="0" y="-19050"/>
              <a:ext cx="4725392" cy="628649"/>
            </a:xfrm>
            <a:prstGeom prst="rect">
              <a:avLst/>
            </a:prstGeom>
          </p:spPr>
          <p:txBody>
            <a:bodyPr anchor="t" rtlCol="false" tIns="0" lIns="0" bIns="0" rIns="0"/>
            <a:lstStyle/>
            <a:p>
              <a:pPr algn="l">
                <a:lnSpc>
                  <a:spcPts val="3436"/>
                </a:lnSpc>
              </a:pPr>
              <a:r>
                <a:rPr lang="en-US" sz="2750" spc="-83">
                  <a:solidFill>
                    <a:srgbClr val="2C3F42"/>
                  </a:solidFill>
                  <a:latin typeface="Bitter"/>
                  <a:ea typeface="Bitter"/>
                  <a:cs typeface="Bitter"/>
                  <a:sym typeface="Bitter"/>
                </a:rPr>
                <a:t>Tensor Operations</a:t>
              </a:r>
            </a:p>
          </p:txBody>
        </p:sp>
      </p:grpSp>
      <p:grpSp>
        <p:nvGrpSpPr>
          <p:cNvPr name="Group 18" id="18"/>
          <p:cNvGrpSpPr/>
          <p:nvPr/>
        </p:nvGrpSpPr>
        <p:grpSpPr>
          <a:xfrm rot="0">
            <a:off x="9499401" y="5272236"/>
            <a:ext cx="7805886" cy="971550"/>
            <a:chOff x="0" y="0"/>
            <a:chExt cx="10407848" cy="1295400"/>
          </a:xfrm>
        </p:grpSpPr>
        <p:sp>
          <p:nvSpPr>
            <p:cNvPr name="Freeform 19" id="19"/>
            <p:cNvSpPr/>
            <p:nvPr/>
          </p:nvSpPr>
          <p:spPr>
            <a:xfrm flipH="false" flipV="false" rot="0">
              <a:off x="0" y="0"/>
              <a:ext cx="10407848" cy="1295400"/>
            </a:xfrm>
            <a:custGeom>
              <a:avLst/>
              <a:gdLst/>
              <a:ahLst/>
              <a:cxnLst/>
              <a:rect r="r" b="b" t="t" l="l"/>
              <a:pathLst>
                <a:path h="1295400" w="10407848">
                  <a:moveTo>
                    <a:pt x="0" y="0"/>
                  </a:moveTo>
                  <a:lnTo>
                    <a:pt x="10407848" y="0"/>
                  </a:lnTo>
                  <a:lnTo>
                    <a:pt x="10407848" y="1295400"/>
                  </a:lnTo>
                  <a:lnTo>
                    <a:pt x="0" y="1295400"/>
                  </a:lnTo>
                  <a:close/>
                </a:path>
              </a:pathLst>
            </a:custGeom>
            <a:solidFill>
              <a:srgbClr val="000000">
                <a:alpha val="0"/>
              </a:srgbClr>
            </a:solidFill>
          </p:spPr>
        </p:sp>
        <p:sp>
          <p:nvSpPr>
            <p:cNvPr name="TextBox 20" id="20"/>
            <p:cNvSpPr txBox="true"/>
            <p:nvPr/>
          </p:nvSpPr>
          <p:spPr>
            <a:xfrm>
              <a:off x="0" y="-85725"/>
              <a:ext cx="10407848"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TensorFlow provides a wide array of operations. These operations can be used to manipulate tensors.</a:t>
              </a:r>
            </a:p>
          </p:txBody>
        </p:sp>
      </p:grpSp>
      <p:grpSp>
        <p:nvGrpSpPr>
          <p:cNvPr name="Group 21" id="21"/>
          <p:cNvGrpSpPr/>
          <p:nvPr/>
        </p:nvGrpSpPr>
        <p:grpSpPr>
          <a:xfrm rot="0">
            <a:off x="992238" y="6753522"/>
            <a:ext cx="16303526" cy="517923"/>
            <a:chOff x="0" y="0"/>
            <a:chExt cx="21738035" cy="690564"/>
          </a:xfrm>
        </p:grpSpPr>
        <p:sp>
          <p:nvSpPr>
            <p:cNvPr name="Freeform 22" id="22"/>
            <p:cNvSpPr/>
            <p:nvPr/>
          </p:nvSpPr>
          <p:spPr>
            <a:xfrm flipH="false" flipV="false" rot="0">
              <a:off x="0" y="0"/>
              <a:ext cx="21738034" cy="690564"/>
            </a:xfrm>
            <a:custGeom>
              <a:avLst/>
              <a:gdLst/>
              <a:ahLst/>
              <a:cxnLst/>
              <a:rect r="r" b="b" t="t" l="l"/>
              <a:pathLst>
                <a:path h="690564" w="21738034">
                  <a:moveTo>
                    <a:pt x="0" y="0"/>
                  </a:moveTo>
                  <a:lnTo>
                    <a:pt x="21738034" y="0"/>
                  </a:lnTo>
                  <a:lnTo>
                    <a:pt x="21738034" y="690564"/>
                  </a:lnTo>
                  <a:lnTo>
                    <a:pt x="0" y="690564"/>
                  </a:lnTo>
                  <a:close/>
                </a:path>
              </a:pathLst>
            </a:custGeom>
            <a:solidFill>
              <a:srgbClr val="000000">
                <a:alpha val="0"/>
              </a:srgbClr>
            </a:solidFill>
          </p:spPr>
        </p:sp>
        <p:sp>
          <p:nvSpPr>
            <p:cNvPr name="TextBox 23" id="23"/>
            <p:cNvSpPr txBox="true"/>
            <p:nvPr/>
          </p:nvSpPr>
          <p:spPr>
            <a:xfrm>
              <a:off x="0" y="-85725"/>
              <a:ext cx="21738035"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Learn how to create and manipulate tensors in TensorFlow. Understand rank, shape, and data types.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81" t="0" r="-83"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07851" y="848469"/>
            <a:ext cx="9140429" cy="832097"/>
            <a:chOff x="0" y="0"/>
            <a:chExt cx="12187239" cy="1109463"/>
          </a:xfrm>
        </p:grpSpPr>
        <p:sp>
          <p:nvSpPr>
            <p:cNvPr name="Freeform 11" id="11"/>
            <p:cNvSpPr/>
            <p:nvPr/>
          </p:nvSpPr>
          <p:spPr>
            <a:xfrm flipH="false" flipV="false" rot="0">
              <a:off x="0" y="0"/>
              <a:ext cx="12187239" cy="1109463"/>
            </a:xfrm>
            <a:custGeom>
              <a:avLst/>
              <a:gdLst/>
              <a:ahLst/>
              <a:cxnLst/>
              <a:rect r="r" b="b" t="t" l="l"/>
              <a:pathLst>
                <a:path h="1109463" w="12187239">
                  <a:moveTo>
                    <a:pt x="0" y="0"/>
                  </a:moveTo>
                  <a:lnTo>
                    <a:pt x="12187239" y="0"/>
                  </a:lnTo>
                  <a:lnTo>
                    <a:pt x="12187239" y="1109463"/>
                  </a:lnTo>
                  <a:lnTo>
                    <a:pt x="0" y="1109463"/>
                  </a:lnTo>
                  <a:close/>
                </a:path>
              </a:pathLst>
            </a:custGeom>
            <a:solidFill>
              <a:srgbClr val="000000">
                <a:alpha val="0"/>
              </a:srgbClr>
            </a:solidFill>
          </p:spPr>
        </p:sp>
        <p:sp>
          <p:nvSpPr>
            <p:cNvPr name="TextBox 12" id="12"/>
            <p:cNvSpPr txBox="true"/>
            <p:nvPr/>
          </p:nvSpPr>
          <p:spPr>
            <a:xfrm>
              <a:off x="0" y="-28575"/>
              <a:ext cx="12187239" cy="1138038"/>
            </a:xfrm>
            <a:prstGeom prst="rect">
              <a:avLst/>
            </a:prstGeom>
          </p:spPr>
          <p:txBody>
            <a:bodyPr anchor="t" rtlCol="false" tIns="0" lIns="0" bIns="0" rIns="0"/>
            <a:lstStyle/>
            <a:p>
              <a:pPr algn="l">
                <a:lnSpc>
                  <a:spcPts val="6373"/>
                </a:lnSpc>
              </a:pPr>
              <a:r>
                <a:rPr lang="en-US" sz="5062" spc="-153">
                  <a:solidFill>
                    <a:srgbClr val="2C3F42"/>
                  </a:solidFill>
                  <a:latin typeface="Bitter"/>
                  <a:ea typeface="Bitter"/>
                  <a:cs typeface="Bitter"/>
                  <a:sym typeface="Bitter"/>
                </a:rPr>
                <a:t>Building a Basic Neural Network</a:t>
              </a:r>
            </a:p>
          </p:txBody>
        </p:sp>
      </p:grpSp>
      <p:grpSp>
        <p:nvGrpSpPr>
          <p:cNvPr name="Group 13" id="13"/>
          <p:cNvGrpSpPr/>
          <p:nvPr/>
        </p:nvGrpSpPr>
        <p:grpSpPr>
          <a:xfrm rot="0">
            <a:off x="907851" y="2069604"/>
            <a:ext cx="1297037" cy="1556445"/>
            <a:chOff x="0" y="0"/>
            <a:chExt cx="1729383" cy="2075260"/>
          </a:xfrm>
        </p:grpSpPr>
        <p:sp>
          <p:nvSpPr>
            <p:cNvPr name="Freeform 14" id="14" descr="preencoded.png"/>
            <p:cNvSpPr/>
            <p:nvPr/>
          </p:nvSpPr>
          <p:spPr>
            <a:xfrm flipH="false" flipV="false" rot="0">
              <a:off x="0" y="0"/>
              <a:ext cx="1729359" cy="2075307"/>
            </a:xfrm>
            <a:custGeom>
              <a:avLst/>
              <a:gdLst/>
              <a:ahLst/>
              <a:cxnLst/>
              <a:rect r="r" b="b" t="t" l="l"/>
              <a:pathLst>
                <a:path h="2075307" w="1729359">
                  <a:moveTo>
                    <a:pt x="0" y="0"/>
                  </a:moveTo>
                  <a:lnTo>
                    <a:pt x="1729359" y="0"/>
                  </a:lnTo>
                  <a:lnTo>
                    <a:pt x="1729359" y="2075307"/>
                  </a:lnTo>
                  <a:lnTo>
                    <a:pt x="0" y="2075307"/>
                  </a:lnTo>
                  <a:lnTo>
                    <a:pt x="0" y="0"/>
                  </a:lnTo>
                  <a:close/>
                </a:path>
              </a:pathLst>
            </a:custGeom>
            <a:blipFill>
              <a:blip r:embed="rId6"/>
              <a:stretch>
                <a:fillRect l="-61" t="0" r="-62" b="2"/>
              </a:stretch>
            </a:blipFill>
          </p:spPr>
        </p:sp>
      </p:grpSp>
      <p:grpSp>
        <p:nvGrpSpPr>
          <p:cNvPr name="Group 15" id="15"/>
          <p:cNvGrpSpPr/>
          <p:nvPr/>
        </p:nvGrpSpPr>
        <p:grpSpPr>
          <a:xfrm rot="0">
            <a:off x="2593925" y="2314723"/>
            <a:ext cx="3242519" cy="419547"/>
            <a:chOff x="0" y="0"/>
            <a:chExt cx="4323359" cy="559395"/>
          </a:xfrm>
        </p:grpSpPr>
        <p:sp>
          <p:nvSpPr>
            <p:cNvPr name="Freeform 16" id="16"/>
            <p:cNvSpPr/>
            <p:nvPr/>
          </p:nvSpPr>
          <p:spPr>
            <a:xfrm flipH="false" flipV="false" rot="0">
              <a:off x="0" y="0"/>
              <a:ext cx="4323359" cy="559395"/>
            </a:xfrm>
            <a:custGeom>
              <a:avLst/>
              <a:gdLst/>
              <a:ahLst/>
              <a:cxnLst/>
              <a:rect r="r" b="b" t="t" l="l"/>
              <a:pathLst>
                <a:path h="559395" w="4323359">
                  <a:moveTo>
                    <a:pt x="0" y="0"/>
                  </a:moveTo>
                  <a:lnTo>
                    <a:pt x="4323359" y="0"/>
                  </a:lnTo>
                  <a:lnTo>
                    <a:pt x="4323359" y="559395"/>
                  </a:lnTo>
                  <a:lnTo>
                    <a:pt x="0" y="559395"/>
                  </a:lnTo>
                  <a:close/>
                </a:path>
              </a:pathLst>
            </a:custGeom>
            <a:solidFill>
              <a:srgbClr val="000000">
                <a:alpha val="0"/>
              </a:srgbClr>
            </a:solidFill>
          </p:spPr>
        </p:sp>
        <p:sp>
          <p:nvSpPr>
            <p:cNvPr name="TextBox 17" id="17"/>
            <p:cNvSpPr txBox="true"/>
            <p:nvPr/>
          </p:nvSpPr>
          <p:spPr>
            <a:xfrm>
              <a:off x="0" y="-9525"/>
              <a:ext cx="4323359" cy="568920"/>
            </a:xfrm>
            <a:prstGeom prst="rect">
              <a:avLst/>
            </a:prstGeom>
          </p:spPr>
          <p:txBody>
            <a:bodyPr anchor="t" rtlCol="false" tIns="0" lIns="0" bIns="0" rIns="0"/>
            <a:lstStyle/>
            <a:p>
              <a:pPr algn="l">
                <a:lnSpc>
                  <a:spcPts val="3186"/>
                </a:lnSpc>
              </a:pPr>
              <a:r>
                <a:rPr lang="en-US" sz="2499" spc="-76">
                  <a:solidFill>
                    <a:srgbClr val="2B2E3C"/>
                  </a:solidFill>
                  <a:latin typeface="Bitter"/>
                  <a:ea typeface="Bitter"/>
                  <a:cs typeface="Bitter"/>
                  <a:sym typeface="Bitter"/>
                </a:rPr>
                <a:t>Define the Model</a:t>
              </a:r>
            </a:p>
          </p:txBody>
        </p:sp>
      </p:grpSp>
      <p:grpSp>
        <p:nvGrpSpPr>
          <p:cNvPr name="Group 18" id="18"/>
          <p:cNvGrpSpPr/>
          <p:nvPr/>
        </p:nvGrpSpPr>
        <p:grpSpPr>
          <a:xfrm rot="0">
            <a:off x="2593925" y="2825502"/>
            <a:ext cx="7928222" cy="479227"/>
            <a:chOff x="0" y="0"/>
            <a:chExt cx="10570963" cy="638969"/>
          </a:xfrm>
        </p:grpSpPr>
        <p:sp>
          <p:nvSpPr>
            <p:cNvPr name="Freeform 19" id="19"/>
            <p:cNvSpPr/>
            <p:nvPr/>
          </p:nvSpPr>
          <p:spPr>
            <a:xfrm flipH="false" flipV="false" rot="0">
              <a:off x="0" y="0"/>
              <a:ext cx="10570963" cy="638969"/>
            </a:xfrm>
            <a:custGeom>
              <a:avLst/>
              <a:gdLst/>
              <a:ahLst/>
              <a:cxnLst/>
              <a:rect r="r" b="b" t="t" l="l"/>
              <a:pathLst>
                <a:path h="638969" w="10570963">
                  <a:moveTo>
                    <a:pt x="0" y="0"/>
                  </a:moveTo>
                  <a:lnTo>
                    <a:pt x="10570963" y="0"/>
                  </a:lnTo>
                  <a:lnTo>
                    <a:pt x="10570963" y="638969"/>
                  </a:lnTo>
                  <a:lnTo>
                    <a:pt x="0" y="638969"/>
                  </a:lnTo>
                  <a:close/>
                </a:path>
              </a:pathLst>
            </a:custGeom>
            <a:solidFill>
              <a:srgbClr val="000000">
                <a:alpha val="0"/>
              </a:srgbClr>
            </a:solidFill>
          </p:spPr>
        </p:sp>
        <p:sp>
          <p:nvSpPr>
            <p:cNvPr name="TextBox 20" id="20"/>
            <p:cNvSpPr txBox="true"/>
            <p:nvPr/>
          </p:nvSpPr>
          <p:spPr>
            <a:xfrm>
              <a:off x="0" y="-85725"/>
              <a:ext cx="10570963" cy="724694"/>
            </a:xfrm>
            <a:prstGeom prst="rect">
              <a:avLst/>
            </a:prstGeom>
          </p:spPr>
          <p:txBody>
            <a:bodyPr anchor="t" rtlCol="false" tIns="0" lIns="0" bIns="0" rIns="0"/>
            <a:lstStyle/>
            <a:p>
              <a:pPr algn="l">
                <a:lnSpc>
                  <a:spcPts val="3250"/>
                </a:lnSpc>
              </a:pPr>
              <a:r>
                <a:rPr lang="en-US" sz="2000" spc="-41">
                  <a:solidFill>
                    <a:srgbClr val="2B2E3C"/>
                  </a:solidFill>
                  <a:latin typeface="Open Sans"/>
                  <a:ea typeface="Open Sans"/>
                  <a:cs typeface="Open Sans"/>
                  <a:sym typeface="Open Sans"/>
                </a:rPr>
                <a:t>Specify layers: Dense, Activation.</a:t>
              </a:r>
            </a:p>
          </p:txBody>
        </p:sp>
      </p:grpSp>
      <p:grpSp>
        <p:nvGrpSpPr>
          <p:cNvPr name="Group 21" id="21"/>
          <p:cNvGrpSpPr/>
          <p:nvPr/>
        </p:nvGrpSpPr>
        <p:grpSpPr>
          <a:xfrm rot="0">
            <a:off x="907851" y="3626049"/>
            <a:ext cx="1297037" cy="1556445"/>
            <a:chOff x="0" y="0"/>
            <a:chExt cx="1729383" cy="2075260"/>
          </a:xfrm>
        </p:grpSpPr>
        <p:sp>
          <p:nvSpPr>
            <p:cNvPr name="Freeform 22" id="22" descr="preencoded.png"/>
            <p:cNvSpPr/>
            <p:nvPr/>
          </p:nvSpPr>
          <p:spPr>
            <a:xfrm flipH="false" flipV="false" rot="0">
              <a:off x="0" y="0"/>
              <a:ext cx="1729359" cy="2075307"/>
            </a:xfrm>
            <a:custGeom>
              <a:avLst/>
              <a:gdLst/>
              <a:ahLst/>
              <a:cxnLst/>
              <a:rect r="r" b="b" t="t" l="l"/>
              <a:pathLst>
                <a:path h="2075307" w="1729359">
                  <a:moveTo>
                    <a:pt x="0" y="0"/>
                  </a:moveTo>
                  <a:lnTo>
                    <a:pt x="1729359" y="0"/>
                  </a:lnTo>
                  <a:lnTo>
                    <a:pt x="1729359" y="2075307"/>
                  </a:lnTo>
                  <a:lnTo>
                    <a:pt x="0" y="2075307"/>
                  </a:lnTo>
                  <a:lnTo>
                    <a:pt x="0" y="0"/>
                  </a:lnTo>
                  <a:close/>
                </a:path>
              </a:pathLst>
            </a:custGeom>
            <a:blipFill>
              <a:blip r:embed="rId7"/>
              <a:stretch>
                <a:fillRect l="-61" t="0" r="-62" b="2"/>
              </a:stretch>
            </a:blipFill>
          </p:spPr>
        </p:sp>
      </p:grpSp>
      <p:grpSp>
        <p:nvGrpSpPr>
          <p:cNvPr name="Group 23" id="23"/>
          <p:cNvGrpSpPr/>
          <p:nvPr/>
        </p:nvGrpSpPr>
        <p:grpSpPr>
          <a:xfrm rot="0">
            <a:off x="2593925" y="3871168"/>
            <a:ext cx="3242519" cy="419547"/>
            <a:chOff x="0" y="0"/>
            <a:chExt cx="4323359" cy="559395"/>
          </a:xfrm>
        </p:grpSpPr>
        <p:sp>
          <p:nvSpPr>
            <p:cNvPr name="Freeform 24" id="24"/>
            <p:cNvSpPr/>
            <p:nvPr/>
          </p:nvSpPr>
          <p:spPr>
            <a:xfrm flipH="false" flipV="false" rot="0">
              <a:off x="0" y="0"/>
              <a:ext cx="4323359" cy="559395"/>
            </a:xfrm>
            <a:custGeom>
              <a:avLst/>
              <a:gdLst/>
              <a:ahLst/>
              <a:cxnLst/>
              <a:rect r="r" b="b" t="t" l="l"/>
              <a:pathLst>
                <a:path h="559395" w="4323359">
                  <a:moveTo>
                    <a:pt x="0" y="0"/>
                  </a:moveTo>
                  <a:lnTo>
                    <a:pt x="4323359" y="0"/>
                  </a:lnTo>
                  <a:lnTo>
                    <a:pt x="4323359" y="559395"/>
                  </a:lnTo>
                  <a:lnTo>
                    <a:pt x="0" y="559395"/>
                  </a:lnTo>
                  <a:close/>
                </a:path>
              </a:pathLst>
            </a:custGeom>
            <a:solidFill>
              <a:srgbClr val="000000">
                <a:alpha val="0"/>
              </a:srgbClr>
            </a:solidFill>
          </p:spPr>
        </p:sp>
        <p:sp>
          <p:nvSpPr>
            <p:cNvPr name="TextBox 25" id="25"/>
            <p:cNvSpPr txBox="true"/>
            <p:nvPr/>
          </p:nvSpPr>
          <p:spPr>
            <a:xfrm>
              <a:off x="0" y="-9525"/>
              <a:ext cx="4323359" cy="568920"/>
            </a:xfrm>
            <a:prstGeom prst="rect">
              <a:avLst/>
            </a:prstGeom>
          </p:spPr>
          <p:txBody>
            <a:bodyPr anchor="t" rtlCol="false" tIns="0" lIns="0" bIns="0" rIns="0"/>
            <a:lstStyle/>
            <a:p>
              <a:pPr algn="l">
                <a:lnSpc>
                  <a:spcPts val="3186"/>
                </a:lnSpc>
              </a:pPr>
              <a:r>
                <a:rPr lang="en-US" sz="2499" spc="-76">
                  <a:solidFill>
                    <a:srgbClr val="2B2E3C"/>
                  </a:solidFill>
                  <a:latin typeface="Bitter"/>
                  <a:ea typeface="Bitter"/>
                  <a:cs typeface="Bitter"/>
                  <a:sym typeface="Bitter"/>
                </a:rPr>
                <a:t>Compile the Model</a:t>
              </a:r>
            </a:p>
          </p:txBody>
        </p:sp>
      </p:grpSp>
      <p:grpSp>
        <p:nvGrpSpPr>
          <p:cNvPr name="Group 26" id="26"/>
          <p:cNvGrpSpPr/>
          <p:nvPr/>
        </p:nvGrpSpPr>
        <p:grpSpPr>
          <a:xfrm rot="0">
            <a:off x="2593925" y="4381946"/>
            <a:ext cx="7928222" cy="479227"/>
            <a:chOff x="0" y="0"/>
            <a:chExt cx="10570963" cy="638969"/>
          </a:xfrm>
        </p:grpSpPr>
        <p:sp>
          <p:nvSpPr>
            <p:cNvPr name="Freeform 27" id="27"/>
            <p:cNvSpPr/>
            <p:nvPr/>
          </p:nvSpPr>
          <p:spPr>
            <a:xfrm flipH="false" flipV="false" rot="0">
              <a:off x="0" y="0"/>
              <a:ext cx="10570963" cy="638969"/>
            </a:xfrm>
            <a:custGeom>
              <a:avLst/>
              <a:gdLst/>
              <a:ahLst/>
              <a:cxnLst/>
              <a:rect r="r" b="b" t="t" l="l"/>
              <a:pathLst>
                <a:path h="638969" w="10570963">
                  <a:moveTo>
                    <a:pt x="0" y="0"/>
                  </a:moveTo>
                  <a:lnTo>
                    <a:pt x="10570963" y="0"/>
                  </a:lnTo>
                  <a:lnTo>
                    <a:pt x="10570963" y="638969"/>
                  </a:lnTo>
                  <a:lnTo>
                    <a:pt x="0" y="638969"/>
                  </a:lnTo>
                  <a:close/>
                </a:path>
              </a:pathLst>
            </a:custGeom>
            <a:solidFill>
              <a:srgbClr val="000000">
                <a:alpha val="0"/>
              </a:srgbClr>
            </a:solidFill>
          </p:spPr>
        </p:sp>
        <p:sp>
          <p:nvSpPr>
            <p:cNvPr name="TextBox 28" id="28"/>
            <p:cNvSpPr txBox="true"/>
            <p:nvPr/>
          </p:nvSpPr>
          <p:spPr>
            <a:xfrm>
              <a:off x="0" y="-85725"/>
              <a:ext cx="10570963" cy="724694"/>
            </a:xfrm>
            <a:prstGeom prst="rect">
              <a:avLst/>
            </a:prstGeom>
          </p:spPr>
          <p:txBody>
            <a:bodyPr anchor="t" rtlCol="false" tIns="0" lIns="0" bIns="0" rIns="0"/>
            <a:lstStyle/>
            <a:p>
              <a:pPr algn="l">
                <a:lnSpc>
                  <a:spcPts val="3250"/>
                </a:lnSpc>
              </a:pPr>
              <a:r>
                <a:rPr lang="en-US" sz="2000" spc="-41">
                  <a:solidFill>
                    <a:srgbClr val="2B2E3C"/>
                  </a:solidFill>
                  <a:latin typeface="Open Sans"/>
                  <a:ea typeface="Open Sans"/>
                  <a:cs typeface="Open Sans"/>
                  <a:sym typeface="Open Sans"/>
                </a:rPr>
                <a:t>Choose optimizer, loss, metrics.</a:t>
              </a:r>
            </a:p>
          </p:txBody>
        </p:sp>
      </p:grpSp>
      <p:grpSp>
        <p:nvGrpSpPr>
          <p:cNvPr name="Group 29" id="29"/>
          <p:cNvGrpSpPr/>
          <p:nvPr/>
        </p:nvGrpSpPr>
        <p:grpSpPr>
          <a:xfrm rot="0">
            <a:off x="907851" y="5182492"/>
            <a:ext cx="1297037" cy="1556445"/>
            <a:chOff x="0" y="0"/>
            <a:chExt cx="1729383" cy="2075260"/>
          </a:xfrm>
        </p:grpSpPr>
        <p:sp>
          <p:nvSpPr>
            <p:cNvPr name="Freeform 30" id="30" descr="preencoded.png"/>
            <p:cNvSpPr/>
            <p:nvPr/>
          </p:nvSpPr>
          <p:spPr>
            <a:xfrm flipH="false" flipV="false" rot="0">
              <a:off x="0" y="0"/>
              <a:ext cx="1729359" cy="2075307"/>
            </a:xfrm>
            <a:custGeom>
              <a:avLst/>
              <a:gdLst/>
              <a:ahLst/>
              <a:cxnLst/>
              <a:rect r="r" b="b" t="t" l="l"/>
              <a:pathLst>
                <a:path h="2075307" w="1729359">
                  <a:moveTo>
                    <a:pt x="0" y="0"/>
                  </a:moveTo>
                  <a:lnTo>
                    <a:pt x="1729359" y="0"/>
                  </a:lnTo>
                  <a:lnTo>
                    <a:pt x="1729359" y="2075307"/>
                  </a:lnTo>
                  <a:lnTo>
                    <a:pt x="0" y="2075307"/>
                  </a:lnTo>
                  <a:lnTo>
                    <a:pt x="0" y="0"/>
                  </a:lnTo>
                  <a:close/>
                </a:path>
              </a:pathLst>
            </a:custGeom>
            <a:blipFill>
              <a:blip r:embed="rId8"/>
              <a:stretch>
                <a:fillRect l="-61" t="0" r="-62" b="2"/>
              </a:stretch>
            </a:blipFill>
          </p:spPr>
        </p:sp>
      </p:grpSp>
      <p:grpSp>
        <p:nvGrpSpPr>
          <p:cNvPr name="Group 31" id="31"/>
          <p:cNvGrpSpPr/>
          <p:nvPr/>
        </p:nvGrpSpPr>
        <p:grpSpPr>
          <a:xfrm rot="0">
            <a:off x="2593925" y="5427612"/>
            <a:ext cx="3242519" cy="419547"/>
            <a:chOff x="0" y="0"/>
            <a:chExt cx="4323359" cy="559395"/>
          </a:xfrm>
        </p:grpSpPr>
        <p:sp>
          <p:nvSpPr>
            <p:cNvPr name="Freeform 32" id="32"/>
            <p:cNvSpPr/>
            <p:nvPr/>
          </p:nvSpPr>
          <p:spPr>
            <a:xfrm flipH="false" flipV="false" rot="0">
              <a:off x="0" y="0"/>
              <a:ext cx="4323359" cy="559395"/>
            </a:xfrm>
            <a:custGeom>
              <a:avLst/>
              <a:gdLst/>
              <a:ahLst/>
              <a:cxnLst/>
              <a:rect r="r" b="b" t="t" l="l"/>
              <a:pathLst>
                <a:path h="559395" w="4323359">
                  <a:moveTo>
                    <a:pt x="0" y="0"/>
                  </a:moveTo>
                  <a:lnTo>
                    <a:pt x="4323359" y="0"/>
                  </a:lnTo>
                  <a:lnTo>
                    <a:pt x="4323359" y="559395"/>
                  </a:lnTo>
                  <a:lnTo>
                    <a:pt x="0" y="559395"/>
                  </a:lnTo>
                  <a:close/>
                </a:path>
              </a:pathLst>
            </a:custGeom>
            <a:solidFill>
              <a:srgbClr val="000000">
                <a:alpha val="0"/>
              </a:srgbClr>
            </a:solidFill>
          </p:spPr>
        </p:sp>
        <p:sp>
          <p:nvSpPr>
            <p:cNvPr name="TextBox 33" id="33"/>
            <p:cNvSpPr txBox="true"/>
            <p:nvPr/>
          </p:nvSpPr>
          <p:spPr>
            <a:xfrm>
              <a:off x="0" y="-9525"/>
              <a:ext cx="4323359" cy="568920"/>
            </a:xfrm>
            <a:prstGeom prst="rect">
              <a:avLst/>
            </a:prstGeom>
          </p:spPr>
          <p:txBody>
            <a:bodyPr anchor="t" rtlCol="false" tIns="0" lIns="0" bIns="0" rIns="0"/>
            <a:lstStyle/>
            <a:p>
              <a:pPr algn="l">
                <a:lnSpc>
                  <a:spcPts val="3186"/>
                </a:lnSpc>
              </a:pPr>
              <a:r>
                <a:rPr lang="en-US" sz="2499" spc="-76">
                  <a:solidFill>
                    <a:srgbClr val="2B2E3C"/>
                  </a:solidFill>
                  <a:latin typeface="Bitter"/>
                  <a:ea typeface="Bitter"/>
                  <a:cs typeface="Bitter"/>
                  <a:sym typeface="Bitter"/>
                </a:rPr>
                <a:t>Train the Model</a:t>
              </a:r>
            </a:p>
          </p:txBody>
        </p:sp>
      </p:grpSp>
      <p:grpSp>
        <p:nvGrpSpPr>
          <p:cNvPr name="Group 34" id="34"/>
          <p:cNvGrpSpPr/>
          <p:nvPr/>
        </p:nvGrpSpPr>
        <p:grpSpPr>
          <a:xfrm rot="0">
            <a:off x="2593925" y="5938391"/>
            <a:ext cx="7928222" cy="479227"/>
            <a:chOff x="0" y="0"/>
            <a:chExt cx="10570963" cy="638969"/>
          </a:xfrm>
        </p:grpSpPr>
        <p:sp>
          <p:nvSpPr>
            <p:cNvPr name="Freeform 35" id="35"/>
            <p:cNvSpPr/>
            <p:nvPr/>
          </p:nvSpPr>
          <p:spPr>
            <a:xfrm flipH="false" flipV="false" rot="0">
              <a:off x="0" y="0"/>
              <a:ext cx="10570963" cy="638969"/>
            </a:xfrm>
            <a:custGeom>
              <a:avLst/>
              <a:gdLst/>
              <a:ahLst/>
              <a:cxnLst/>
              <a:rect r="r" b="b" t="t" l="l"/>
              <a:pathLst>
                <a:path h="638969" w="10570963">
                  <a:moveTo>
                    <a:pt x="0" y="0"/>
                  </a:moveTo>
                  <a:lnTo>
                    <a:pt x="10570963" y="0"/>
                  </a:lnTo>
                  <a:lnTo>
                    <a:pt x="10570963" y="638969"/>
                  </a:lnTo>
                  <a:lnTo>
                    <a:pt x="0" y="638969"/>
                  </a:lnTo>
                  <a:close/>
                </a:path>
              </a:pathLst>
            </a:custGeom>
            <a:solidFill>
              <a:srgbClr val="000000">
                <a:alpha val="0"/>
              </a:srgbClr>
            </a:solidFill>
          </p:spPr>
        </p:sp>
        <p:sp>
          <p:nvSpPr>
            <p:cNvPr name="TextBox 36" id="36"/>
            <p:cNvSpPr txBox="true"/>
            <p:nvPr/>
          </p:nvSpPr>
          <p:spPr>
            <a:xfrm>
              <a:off x="0" y="-85725"/>
              <a:ext cx="10570963" cy="724694"/>
            </a:xfrm>
            <a:prstGeom prst="rect">
              <a:avLst/>
            </a:prstGeom>
          </p:spPr>
          <p:txBody>
            <a:bodyPr anchor="t" rtlCol="false" tIns="0" lIns="0" bIns="0" rIns="0"/>
            <a:lstStyle/>
            <a:p>
              <a:pPr algn="l">
                <a:lnSpc>
                  <a:spcPts val="3250"/>
                </a:lnSpc>
              </a:pPr>
              <a:r>
                <a:rPr lang="en-US" sz="2000" spc="-41">
                  <a:solidFill>
                    <a:srgbClr val="2B2E3C"/>
                  </a:solidFill>
                  <a:latin typeface="Open Sans"/>
                  <a:ea typeface="Open Sans"/>
                  <a:cs typeface="Open Sans"/>
                  <a:sym typeface="Open Sans"/>
                </a:rPr>
                <a:t>Use input data, labels, epochs.</a:t>
              </a:r>
            </a:p>
          </p:txBody>
        </p:sp>
      </p:grpSp>
      <p:grpSp>
        <p:nvGrpSpPr>
          <p:cNvPr name="Group 37" id="37"/>
          <p:cNvGrpSpPr/>
          <p:nvPr/>
        </p:nvGrpSpPr>
        <p:grpSpPr>
          <a:xfrm rot="0">
            <a:off x="907851" y="6738937"/>
            <a:ext cx="1297037" cy="1556445"/>
            <a:chOff x="0" y="0"/>
            <a:chExt cx="1729383" cy="2075260"/>
          </a:xfrm>
        </p:grpSpPr>
        <p:sp>
          <p:nvSpPr>
            <p:cNvPr name="Freeform 38" id="38" descr="preencoded.png"/>
            <p:cNvSpPr/>
            <p:nvPr/>
          </p:nvSpPr>
          <p:spPr>
            <a:xfrm flipH="false" flipV="false" rot="0">
              <a:off x="0" y="0"/>
              <a:ext cx="1729359" cy="2075307"/>
            </a:xfrm>
            <a:custGeom>
              <a:avLst/>
              <a:gdLst/>
              <a:ahLst/>
              <a:cxnLst/>
              <a:rect r="r" b="b" t="t" l="l"/>
              <a:pathLst>
                <a:path h="2075307" w="1729359">
                  <a:moveTo>
                    <a:pt x="0" y="0"/>
                  </a:moveTo>
                  <a:lnTo>
                    <a:pt x="1729359" y="0"/>
                  </a:lnTo>
                  <a:lnTo>
                    <a:pt x="1729359" y="2075307"/>
                  </a:lnTo>
                  <a:lnTo>
                    <a:pt x="0" y="2075307"/>
                  </a:lnTo>
                  <a:lnTo>
                    <a:pt x="0" y="0"/>
                  </a:lnTo>
                  <a:close/>
                </a:path>
              </a:pathLst>
            </a:custGeom>
            <a:blipFill>
              <a:blip r:embed="rId9"/>
              <a:stretch>
                <a:fillRect l="-61" t="0" r="-62" b="2"/>
              </a:stretch>
            </a:blipFill>
          </p:spPr>
        </p:sp>
      </p:grpSp>
      <p:grpSp>
        <p:nvGrpSpPr>
          <p:cNvPr name="Group 39" id="39"/>
          <p:cNvGrpSpPr/>
          <p:nvPr/>
        </p:nvGrpSpPr>
        <p:grpSpPr>
          <a:xfrm rot="0">
            <a:off x="2593925" y="6984057"/>
            <a:ext cx="3242519" cy="419547"/>
            <a:chOff x="0" y="0"/>
            <a:chExt cx="4323359" cy="559395"/>
          </a:xfrm>
        </p:grpSpPr>
        <p:sp>
          <p:nvSpPr>
            <p:cNvPr name="Freeform 40" id="40"/>
            <p:cNvSpPr/>
            <p:nvPr/>
          </p:nvSpPr>
          <p:spPr>
            <a:xfrm flipH="false" flipV="false" rot="0">
              <a:off x="0" y="0"/>
              <a:ext cx="4323359" cy="559395"/>
            </a:xfrm>
            <a:custGeom>
              <a:avLst/>
              <a:gdLst/>
              <a:ahLst/>
              <a:cxnLst/>
              <a:rect r="r" b="b" t="t" l="l"/>
              <a:pathLst>
                <a:path h="559395" w="4323359">
                  <a:moveTo>
                    <a:pt x="0" y="0"/>
                  </a:moveTo>
                  <a:lnTo>
                    <a:pt x="4323359" y="0"/>
                  </a:lnTo>
                  <a:lnTo>
                    <a:pt x="4323359" y="559395"/>
                  </a:lnTo>
                  <a:lnTo>
                    <a:pt x="0" y="559395"/>
                  </a:lnTo>
                  <a:close/>
                </a:path>
              </a:pathLst>
            </a:custGeom>
            <a:solidFill>
              <a:srgbClr val="000000">
                <a:alpha val="0"/>
              </a:srgbClr>
            </a:solidFill>
          </p:spPr>
        </p:sp>
        <p:sp>
          <p:nvSpPr>
            <p:cNvPr name="TextBox 41" id="41"/>
            <p:cNvSpPr txBox="true"/>
            <p:nvPr/>
          </p:nvSpPr>
          <p:spPr>
            <a:xfrm>
              <a:off x="0" y="-9525"/>
              <a:ext cx="4323359" cy="568920"/>
            </a:xfrm>
            <a:prstGeom prst="rect">
              <a:avLst/>
            </a:prstGeom>
          </p:spPr>
          <p:txBody>
            <a:bodyPr anchor="t" rtlCol="false" tIns="0" lIns="0" bIns="0" rIns="0"/>
            <a:lstStyle/>
            <a:p>
              <a:pPr algn="l">
                <a:lnSpc>
                  <a:spcPts val="3186"/>
                </a:lnSpc>
              </a:pPr>
              <a:r>
                <a:rPr lang="en-US" sz="2499" spc="-76">
                  <a:solidFill>
                    <a:srgbClr val="2B2E3C"/>
                  </a:solidFill>
                  <a:latin typeface="Bitter"/>
                  <a:ea typeface="Bitter"/>
                  <a:cs typeface="Bitter"/>
                  <a:sym typeface="Bitter"/>
                </a:rPr>
                <a:t>Evaluate the Model</a:t>
              </a:r>
            </a:p>
          </p:txBody>
        </p:sp>
      </p:grpSp>
      <p:grpSp>
        <p:nvGrpSpPr>
          <p:cNvPr name="Group 42" id="42"/>
          <p:cNvGrpSpPr/>
          <p:nvPr/>
        </p:nvGrpSpPr>
        <p:grpSpPr>
          <a:xfrm rot="0">
            <a:off x="2593925" y="7494835"/>
            <a:ext cx="7928222" cy="479227"/>
            <a:chOff x="0" y="0"/>
            <a:chExt cx="10570963" cy="638969"/>
          </a:xfrm>
        </p:grpSpPr>
        <p:sp>
          <p:nvSpPr>
            <p:cNvPr name="Freeform 43" id="43"/>
            <p:cNvSpPr/>
            <p:nvPr/>
          </p:nvSpPr>
          <p:spPr>
            <a:xfrm flipH="false" flipV="false" rot="0">
              <a:off x="0" y="0"/>
              <a:ext cx="10570963" cy="638969"/>
            </a:xfrm>
            <a:custGeom>
              <a:avLst/>
              <a:gdLst/>
              <a:ahLst/>
              <a:cxnLst/>
              <a:rect r="r" b="b" t="t" l="l"/>
              <a:pathLst>
                <a:path h="638969" w="10570963">
                  <a:moveTo>
                    <a:pt x="0" y="0"/>
                  </a:moveTo>
                  <a:lnTo>
                    <a:pt x="10570963" y="0"/>
                  </a:lnTo>
                  <a:lnTo>
                    <a:pt x="10570963" y="638969"/>
                  </a:lnTo>
                  <a:lnTo>
                    <a:pt x="0" y="638969"/>
                  </a:lnTo>
                  <a:close/>
                </a:path>
              </a:pathLst>
            </a:custGeom>
            <a:solidFill>
              <a:srgbClr val="000000">
                <a:alpha val="0"/>
              </a:srgbClr>
            </a:solidFill>
          </p:spPr>
        </p:sp>
        <p:sp>
          <p:nvSpPr>
            <p:cNvPr name="TextBox 44" id="44"/>
            <p:cNvSpPr txBox="true"/>
            <p:nvPr/>
          </p:nvSpPr>
          <p:spPr>
            <a:xfrm>
              <a:off x="0" y="-85725"/>
              <a:ext cx="10570963" cy="724694"/>
            </a:xfrm>
            <a:prstGeom prst="rect">
              <a:avLst/>
            </a:prstGeom>
          </p:spPr>
          <p:txBody>
            <a:bodyPr anchor="t" rtlCol="false" tIns="0" lIns="0" bIns="0" rIns="0"/>
            <a:lstStyle/>
            <a:p>
              <a:pPr algn="l">
                <a:lnSpc>
                  <a:spcPts val="3250"/>
                </a:lnSpc>
              </a:pPr>
              <a:r>
                <a:rPr lang="en-US" sz="2000" spc="-41">
                  <a:solidFill>
                    <a:srgbClr val="2B2E3C"/>
                  </a:solidFill>
                  <a:latin typeface="Open Sans"/>
                  <a:ea typeface="Open Sans"/>
                  <a:cs typeface="Open Sans"/>
                  <a:sym typeface="Open Sans"/>
                </a:rPr>
                <a:t>Assess accuracy and loss.</a:t>
              </a:r>
            </a:p>
          </p:txBody>
        </p:sp>
      </p:grpSp>
      <p:grpSp>
        <p:nvGrpSpPr>
          <p:cNvPr name="Group 45" id="45"/>
          <p:cNvGrpSpPr/>
          <p:nvPr/>
        </p:nvGrpSpPr>
        <p:grpSpPr>
          <a:xfrm rot="0">
            <a:off x="907851" y="8522791"/>
            <a:ext cx="9614298" cy="894160"/>
            <a:chOff x="0" y="0"/>
            <a:chExt cx="12819064" cy="1192213"/>
          </a:xfrm>
        </p:grpSpPr>
        <p:sp>
          <p:nvSpPr>
            <p:cNvPr name="Freeform 46" id="46"/>
            <p:cNvSpPr/>
            <p:nvPr/>
          </p:nvSpPr>
          <p:spPr>
            <a:xfrm flipH="false" flipV="false" rot="0">
              <a:off x="0" y="0"/>
              <a:ext cx="12819064" cy="1192213"/>
            </a:xfrm>
            <a:custGeom>
              <a:avLst/>
              <a:gdLst/>
              <a:ahLst/>
              <a:cxnLst/>
              <a:rect r="r" b="b" t="t" l="l"/>
              <a:pathLst>
                <a:path h="1192213" w="12819064">
                  <a:moveTo>
                    <a:pt x="0" y="0"/>
                  </a:moveTo>
                  <a:lnTo>
                    <a:pt x="12819064" y="0"/>
                  </a:lnTo>
                  <a:lnTo>
                    <a:pt x="12819064" y="1192213"/>
                  </a:lnTo>
                  <a:lnTo>
                    <a:pt x="0" y="1192213"/>
                  </a:lnTo>
                  <a:close/>
                </a:path>
              </a:pathLst>
            </a:custGeom>
            <a:solidFill>
              <a:srgbClr val="000000">
                <a:alpha val="0"/>
              </a:srgbClr>
            </a:solidFill>
          </p:spPr>
        </p:sp>
        <p:sp>
          <p:nvSpPr>
            <p:cNvPr name="TextBox 47" id="47"/>
            <p:cNvSpPr txBox="true"/>
            <p:nvPr/>
          </p:nvSpPr>
          <p:spPr>
            <a:xfrm>
              <a:off x="0" y="-85725"/>
              <a:ext cx="12819064" cy="1277938"/>
            </a:xfrm>
            <a:prstGeom prst="rect">
              <a:avLst/>
            </a:prstGeom>
          </p:spPr>
          <p:txBody>
            <a:bodyPr anchor="t" rtlCol="false" tIns="0" lIns="0" bIns="0" rIns="0"/>
            <a:lstStyle/>
            <a:p>
              <a:pPr algn="l">
                <a:lnSpc>
                  <a:spcPts val="3250"/>
                </a:lnSpc>
              </a:pPr>
              <a:r>
                <a:rPr lang="en-US" sz="2000" spc="-41">
                  <a:solidFill>
                    <a:srgbClr val="2B2E3C"/>
                  </a:solidFill>
                  <a:latin typeface="Open Sans"/>
                  <a:ea typeface="Open Sans"/>
                  <a:cs typeface="Open Sans"/>
                  <a:sym typeface="Open Sans"/>
                </a:rPr>
                <a:t>Create a neural network, compile it with essential components. Train it with appropriate data, and then evaluate its performance.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81" t="0" r="-83"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858441" y="792361"/>
            <a:ext cx="8357295" cy="787896"/>
            <a:chOff x="0" y="0"/>
            <a:chExt cx="11143060" cy="1050528"/>
          </a:xfrm>
        </p:grpSpPr>
        <p:sp>
          <p:nvSpPr>
            <p:cNvPr name="Freeform 11" id="11"/>
            <p:cNvSpPr/>
            <p:nvPr/>
          </p:nvSpPr>
          <p:spPr>
            <a:xfrm flipH="false" flipV="false" rot="0">
              <a:off x="0" y="0"/>
              <a:ext cx="11143060" cy="1050528"/>
            </a:xfrm>
            <a:custGeom>
              <a:avLst/>
              <a:gdLst/>
              <a:ahLst/>
              <a:cxnLst/>
              <a:rect r="r" b="b" t="t" l="l"/>
              <a:pathLst>
                <a:path h="1050528" w="11143060">
                  <a:moveTo>
                    <a:pt x="0" y="0"/>
                  </a:moveTo>
                  <a:lnTo>
                    <a:pt x="11143060" y="0"/>
                  </a:lnTo>
                  <a:lnTo>
                    <a:pt x="11143060" y="1050528"/>
                  </a:lnTo>
                  <a:lnTo>
                    <a:pt x="0" y="1050528"/>
                  </a:lnTo>
                  <a:close/>
                </a:path>
              </a:pathLst>
            </a:custGeom>
            <a:solidFill>
              <a:srgbClr val="000000">
                <a:alpha val="0"/>
              </a:srgbClr>
            </a:solidFill>
          </p:spPr>
        </p:sp>
        <p:sp>
          <p:nvSpPr>
            <p:cNvPr name="TextBox 12" id="12"/>
            <p:cNvSpPr txBox="true"/>
            <p:nvPr/>
          </p:nvSpPr>
          <p:spPr>
            <a:xfrm>
              <a:off x="0" y="-28575"/>
              <a:ext cx="11143060" cy="1079103"/>
            </a:xfrm>
            <a:prstGeom prst="rect">
              <a:avLst/>
            </a:prstGeom>
          </p:spPr>
          <p:txBody>
            <a:bodyPr anchor="t" rtlCol="false" tIns="0" lIns="0" bIns="0" rIns="0"/>
            <a:lstStyle/>
            <a:p>
              <a:pPr algn="l">
                <a:lnSpc>
                  <a:spcPts val="6000"/>
                </a:lnSpc>
              </a:pPr>
              <a:r>
                <a:rPr lang="en-US" sz="4812" spc="-144">
                  <a:solidFill>
                    <a:srgbClr val="2C3F42"/>
                  </a:solidFill>
                  <a:latin typeface="Bitter"/>
                  <a:ea typeface="Bitter"/>
                  <a:cs typeface="Bitter"/>
                  <a:sym typeface="Bitter"/>
                </a:rPr>
                <a:t>Activation Functions Explained</a:t>
              </a:r>
            </a:p>
          </p:txBody>
        </p:sp>
      </p:grpSp>
      <p:sp>
        <p:nvSpPr>
          <p:cNvPr name="Freeform 13" id="13"/>
          <p:cNvSpPr/>
          <p:nvPr/>
        </p:nvSpPr>
        <p:spPr>
          <a:xfrm flipH="false" flipV="false" rot="0">
            <a:off x="853679" y="1943397"/>
            <a:ext cx="9722739" cy="1441704"/>
          </a:xfrm>
          <a:custGeom>
            <a:avLst/>
            <a:gdLst/>
            <a:ahLst/>
            <a:cxnLst/>
            <a:rect r="r" b="b" t="t" l="l"/>
            <a:pathLst>
              <a:path h="1441704" w="9722739">
                <a:moveTo>
                  <a:pt x="0" y="0"/>
                </a:moveTo>
                <a:lnTo>
                  <a:pt x="9722739" y="0"/>
                </a:lnTo>
                <a:lnTo>
                  <a:pt x="9722739" y="1441704"/>
                </a:lnTo>
                <a:lnTo>
                  <a:pt x="0" y="1441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1113234" y="2188666"/>
            <a:ext cx="3066009" cy="397521"/>
            <a:chOff x="0" y="0"/>
            <a:chExt cx="4088012" cy="530027"/>
          </a:xfrm>
        </p:grpSpPr>
        <p:sp>
          <p:nvSpPr>
            <p:cNvPr name="Freeform 15" id="15"/>
            <p:cNvSpPr/>
            <p:nvPr/>
          </p:nvSpPr>
          <p:spPr>
            <a:xfrm flipH="false" flipV="false" rot="0">
              <a:off x="0" y="0"/>
              <a:ext cx="4088012" cy="530027"/>
            </a:xfrm>
            <a:custGeom>
              <a:avLst/>
              <a:gdLst/>
              <a:ahLst/>
              <a:cxnLst/>
              <a:rect r="r" b="b" t="t" l="l"/>
              <a:pathLst>
                <a:path h="530027" w="4088012">
                  <a:moveTo>
                    <a:pt x="0" y="0"/>
                  </a:moveTo>
                  <a:lnTo>
                    <a:pt x="4088012" y="0"/>
                  </a:lnTo>
                  <a:lnTo>
                    <a:pt x="4088012" y="530027"/>
                  </a:lnTo>
                  <a:lnTo>
                    <a:pt x="0" y="530027"/>
                  </a:lnTo>
                  <a:close/>
                </a:path>
              </a:pathLst>
            </a:custGeom>
            <a:solidFill>
              <a:srgbClr val="000000">
                <a:alpha val="0"/>
              </a:srgbClr>
            </a:solidFill>
          </p:spPr>
        </p:sp>
        <p:sp>
          <p:nvSpPr>
            <p:cNvPr name="TextBox 16" id="16"/>
            <p:cNvSpPr txBox="true"/>
            <p:nvPr/>
          </p:nvSpPr>
          <p:spPr>
            <a:xfrm>
              <a:off x="0" y="-19050"/>
              <a:ext cx="4088012" cy="549077"/>
            </a:xfrm>
            <a:prstGeom prst="rect">
              <a:avLst/>
            </a:prstGeom>
          </p:spPr>
          <p:txBody>
            <a:bodyPr anchor="t" rtlCol="false" tIns="0" lIns="0" bIns="0" rIns="0"/>
            <a:lstStyle/>
            <a:p>
              <a:pPr algn="l">
                <a:lnSpc>
                  <a:spcPts val="3000"/>
                </a:lnSpc>
              </a:pPr>
              <a:r>
                <a:rPr lang="en-US" sz="2375" spc="-72">
                  <a:solidFill>
                    <a:srgbClr val="2B2E3C"/>
                  </a:solidFill>
                  <a:latin typeface="Bitter"/>
                  <a:ea typeface="Bitter"/>
                  <a:cs typeface="Bitter"/>
                  <a:sym typeface="Bitter"/>
                </a:rPr>
                <a:t>ReLU</a:t>
              </a:r>
            </a:p>
          </p:txBody>
        </p:sp>
      </p:grpSp>
      <p:grpSp>
        <p:nvGrpSpPr>
          <p:cNvPr name="Group 17" id="17"/>
          <p:cNvGrpSpPr/>
          <p:nvPr/>
        </p:nvGrpSpPr>
        <p:grpSpPr>
          <a:xfrm rot="0">
            <a:off x="1113234" y="2676079"/>
            <a:ext cx="9203531" cy="449461"/>
            <a:chOff x="0" y="0"/>
            <a:chExt cx="12271375" cy="599281"/>
          </a:xfrm>
        </p:grpSpPr>
        <p:sp>
          <p:nvSpPr>
            <p:cNvPr name="Freeform 18" id="18"/>
            <p:cNvSpPr/>
            <p:nvPr/>
          </p:nvSpPr>
          <p:spPr>
            <a:xfrm flipH="false" flipV="false" rot="0">
              <a:off x="0" y="0"/>
              <a:ext cx="12271375" cy="599281"/>
            </a:xfrm>
            <a:custGeom>
              <a:avLst/>
              <a:gdLst/>
              <a:ahLst/>
              <a:cxnLst/>
              <a:rect r="r" b="b" t="t" l="l"/>
              <a:pathLst>
                <a:path h="599281" w="12271375">
                  <a:moveTo>
                    <a:pt x="0" y="0"/>
                  </a:moveTo>
                  <a:lnTo>
                    <a:pt x="12271375" y="0"/>
                  </a:lnTo>
                  <a:lnTo>
                    <a:pt x="12271375" y="599281"/>
                  </a:lnTo>
                  <a:lnTo>
                    <a:pt x="0" y="599281"/>
                  </a:lnTo>
                  <a:close/>
                </a:path>
              </a:pathLst>
            </a:custGeom>
            <a:solidFill>
              <a:srgbClr val="000000">
                <a:alpha val="0"/>
              </a:srgbClr>
            </a:solidFill>
          </p:spPr>
        </p:sp>
        <p:sp>
          <p:nvSpPr>
            <p:cNvPr name="TextBox 19" id="19"/>
            <p:cNvSpPr txBox="true"/>
            <p:nvPr/>
          </p:nvSpPr>
          <p:spPr>
            <a:xfrm>
              <a:off x="0" y="-76200"/>
              <a:ext cx="12271375" cy="675481"/>
            </a:xfrm>
            <a:prstGeom prst="rect">
              <a:avLst/>
            </a:prstGeom>
          </p:spPr>
          <p:txBody>
            <a:bodyPr anchor="t" rtlCol="false" tIns="0" lIns="0" bIns="0" rIns="0"/>
            <a:lstStyle/>
            <a:p>
              <a:pPr algn="l">
                <a:lnSpc>
                  <a:spcPts val="3062"/>
                </a:lnSpc>
              </a:pPr>
              <a:r>
                <a:rPr lang="en-US" sz="1874" spc="-38">
                  <a:solidFill>
                    <a:srgbClr val="2B2E3C"/>
                  </a:solidFill>
                  <a:latin typeface="Open Sans"/>
                  <a:ea typeface="Open Sans"/>
                  <a:cs typeface="Open Sans"/>
                  <a:sym typeface="Open Sans"/>
                </a:rPr>
                <a:t>Common choice for hidden layers.</a:t>
              </a:r>
            </a:p>
          </p:txBody>
        </p:sp>
      </p:grpSp>
      <p:sp>
        <p:nvSpPr>
          <p:cNvPr name="Freeform 20" id="20"/>
          <p:cNvSpPr/>
          <p:nvPr/>
        </p:nvSpPr>
        <p:spPr>
          <a:xfrm flipH="false" flipV="false" rot="0">
            <a:off x="853679" y="3620840"/>
            <a:ext cx="9722739" cy="1441705"/>
          </a:xfrm>
          <a:custGeom>
            <a:avLst/>
            <a:gdLst/>
            <a:ahLst/>
            <a:cxnLst/>
            <a:rect r="r" b="b" t="t" l="l"/>
            <a:pathLst>
              <a:path h="1441705" w="9722739">
                <a:moveTo>
                  <a:pt x="0" y="0"/>
                </a:moveTo>
                <a:lnTo>
                  <a:pt x="9722739" y="0"/>
                </a:lnTo>
                <a:lnTo>
                  <a:pt x="9722739" y="1441705"/>
                </a:lnTo>
                <a:lnTo>
                  <a:pt x="0" y="144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1113234" y="3866109"/>
            <a:ext cx="3066009" cy="397519"/>
            <a:chOff x="0" y="0"/>
            <a:chExt cx="4088012" cy="530026"/>
          </a:xfrm>
        </p:grpSpPr>
        <p:sp>
          <p:nvSpPr>
            <p:cNvPr name="Freeform 22" id="22"/>
            <p:cNvSpPr/>
            <p:nvPr/>
          </p:nvSpPr>
          <p:spPr>
            <a:xfrm flipH="false" flipV="false" rot="0">
              <a:off x="0" y="0"/>
              <a:ext cx="4088012" cy="530026"/>
            </a:xfrm>
            <a:custGeom>
              <a:avLst/>
              <a:gdLst/>
              <a:ahLst/>
              <a:cxnLst/>
              <a:rect r="r" b="b" t="t" l="l"/>
              <a:pathLst>
                <a:path h="530026" w="4088012">
                  <a:moveTo>
                    <a:pt x="0" y="0"/>
                  </a:moveTo>
                  <a:lnTo>
                    <a:pt x="4088012" y="0"/>
                  </a:lnTo>
                  <a:lnTo>
                    <a:pt x="4088012" y="530026"/>
                  </a:lnTo>
                  <a:lnTo>
                    <a:pt x="0" y="530026"/>
                  </a:lnTo>
                  <a:close/>
                </a:path>
              </a:pathLst>
            </a:custGeom>
            <a:solidFill>
              <a:srgbClr val="000000">
                <a:alpha val="0"/>
              </a:srgbClr>
            </a:solidFill>
          </p:spPr>
        </p:sp>
        <p:sp>
          <p:nvSpPr>
            <p:cNvPr name="TextBox 23" id="23"/>
            <p:cNvSpPr txBox="true"/>
            <p:nvPr/>
          </p:nvSpPr>
          <p:spPr>
            <a:xfrm>
              <a:off x="0" y="-19050"/>
              <a:ext cx="4088012" cy="549076"/>
            </a:xfrm>
            <a:prstGeom prst="rect">
              <a:avLst/>
            </a:prstGeom>
          </p:spPr>
          <p:txBody>
            <a:bodyPr anchor="t" rtlCol="false" tIns="0" lIns="0" bIns="0" rIns="0"/>
            <a:lstStyle/>
            <a:p>
              <a:pPr algn="l">
                <a:lnSpc>
                  <a:spcPts val="3000"/>
                </a:lnSpc>
              </a:pPr>
              <a:r>
                <a:rPr lang="en-US" sz="2375" spc="-72">
                  <a:solidFill>
                    <a:srgbClr val="2B2E3C"/>
                  </a:solidFill>
                  <a:latin typeface="Bitter"/>
                  <a:ea typeface="Bitter"/>
                  <a:cs typeface="Bitter"/>
                  <a:sym typeface="Bitter"/>
                </a:rPr>
                <a:t>Sigmoid</a:t>
              </a:r>
            </a:p>
          </p:txBody>
        </p:sp>
      </p:grpSp>
      <p:grpSp>
        <p:nvGrpSpPr>
          <p:cNvPr name="Group 24" id="24"/>
          <p:cNvGrpSpPr/>
          <p:nvPr/>
        </p:nvGrpSpPr>
        <p:grpSpPr>
          <a:xfrm rot="0">
            <a:off x="1113234" y="4353520"/>
            <a:ext cx="9203531" cy="449461"/>
            <a:chOff x="0" y="0"/>
            <a:chExt cx="12271375" cy="599281"/>
          </a:xfrm>
        </p:grpSpPr>
        <p:sp>
          <p:nvSpPr>
            <p:cNvPr name="Freeform 25" id="25"/>
            <p:cNvSpPr/>
            <p:nvPr/>
          </p:nvSpPr>
          <p:spPr>
            <a:xfrm flipH="false" flipV="false" rot="0">
              <a:off x="0" y="0"/>
              <a:ext cx="12271375" cy="599281"/>
            </a:xfrm>
            <a:custGeom>
              <a:avLst/>
              <a:gdLst/>
              <a:ahLst/>
              <a:cxnLst/>
              <a:rect r="r" b="b" t="t" l="l"/>
              <a:pathLst>
                <a:path h="599281" w="12271375">
                  <a:moveTo>
                    <a:pt x="0" y="0"/>
                  </a:moveTo>
                  <a:lnTo>
                    <a:pt x="12271375" y="0"/>
                  </a:lnTo>
                  <a:lnTo>
                    <a:pt x="12271375" y="599281"/>
                  </a:lnTo>
                  <a:lnTo>
                    <a:pt x="0" y="599281"/>
                  </a:lnTo>
                  <a:close/>
                </a:path>
              </a:pathLst>
            </a:custGeom>
            <a:solidFill>
              <a:srgbClr val="000000">
                <a:alpha val="0"/>
              </a:srgbClr>
            </a:solidFill>
          </p:spPr>
        </p:sp>
        <p:sp>
          <p:nvSpPr>
            <p:cNvPr name="TextBox 26" id="26"/>
            <p:cNvSpPr txBox="true"/>
            <p:nvPr/>
          </p:nvSpPr>
          <p:spPr>
            <a:xfrm>
              <a:off x="0" y="-76200"/>
              <a:ext cx="12271375" cy="675481"/>
            </a:xfrm>
            <a:prstGeom prst="rect">
              <a:avLst/>
            </a:prstGeom>
          </p:spPr>
          <p:txBody>
            <a:bodyPr anchor="t" rtlCol="false" tIns="0" lIns="0" bIns="0" rIns="0"/>
            <a:lstStyle/>
            <a:p>
              <a:pPr algn="l">
                <a:lnSpc>
                  <a:spcPts val="3062"/>
                </a:lnSpc>
              </a:pPr>
              <a:r>
                <a:rPr lang="en-US" sz="1874" spc="-38">
                  <a:solidFill>
                    <a:srgbClr val="2B2E3C"/>
                  </a:solidFill>
                  <a:latin typeface="Open Sans"/>
                  <a:ea typeface="Open Sans"/>
                  <a:cs typeface="Open Sans"/>
                  <a:sym typeface="Open Sans"/>
                </a:rPr>
                <a:t>Output between 0 and 1, for binary tasks.</a:t>
              </a:r>
            </a:p>
          </p:txBody>
        </p:sp>
      </p:grpSp>
      <p:sp>
        <p:nvSpPr>
          <p:cNvPr name="Freeform 27" id="27"/>
          <p:cNvSpPr/>
          <p:nvPr/>
        </p:nvSpPr>
        <p:spPr>
          <a:xfrm flipH="false" flipV="false" rot="0">
            <a:off x="853679" y="5298281"/>
            <a:ext cx="9722739" cy="1441704"/>
          </a:xfrm>
          <a:custGeom>
            <a:avLst/>
            <a:gdLst/>
            <a:ahLst/>
            <a:cxnLst/>
            <a:rect r="r" b="b" t="t" l="l"/>
            <a:pathLst>
              <a:path h="1441704" w="9722739">
                <a:moveTo>
                  <a:pt x="0" y="0"/>
                </a:moveTo>
                <a:lnTo>
                  <a:pt x="9722739" y="0"/>
                </a:lnTo>
                <a:lnTo>
                  <a:pt x="9722739" y="1441704"/>
                </a:lnTo>
                <a:lnTo>
                  <a:pt x="0" y="1441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8" id="28"/>
          <p:cNvGrpSpPr/>
          <p:nvPr/>
        </p:nvGrpSpPr>
        <p:grpSpPr>
          <a:xfrm rot="0">
            <a:off x="1113234" y="5543551"/>
            <a:ext cx="3066009" cy="397519"/>
            <a:chOff x="0" y="0"/>
            <a:chExt cx="4088012" cy="530026"/>
          </a:xfrm>
        </p:grpSpPr>
        <p:sp>
          <p:nvSpPr>
            <p:cNvPr name="Freeform 29" id="29"/>
            <p:cNvSpPr/>
            <p:nvPr/>
          </p:nvSpPr>
          <p:spPr>
            <a:xfrm flipH="false" flipV="false" rot="0">
              <a:off x="0" y="0"/>
              <a:ext cx="4088012" cy="530026"/>
            </a:xfrm>
            <a:custGeom>
              <a:avLst/>
              <a:gdLst/>
              <a:ahLst/>
              <a:cxnLst/>
              <a:rect r="r" b="b" t="t" l="l"/>
              <a:pathLst>
                <a:path h="530026" w="4088012">
                  <a:moveTo>
                    <a:pt x="0" y="0"/>
                  </a:moveTo>
                  <a:lnTo>
                    <a:pt x="4088012" y="0"/>
                  </a:lnTo>
                  <a:lnTo>
                    <a:pt x="4088012" y="530026"/>
                  </a:lnTo>
                  <a:lnTo>
                    <a:pt x="0" y="530026"/>
                  </a:lnTo>
                  <a:close/>
                </a:path>
              </a:pathLst>
            </a:custGeom>
            <a:solidFill>
              <a:srgbClr val="000000">
                <a:alpha val="0"/>
              </a:srgbClr>
            </a:solidFill>
          </p:spPr>
        </p:sp>
        <p:sp>
          <p:nvSpPr>
            <p:cNvPr name="TextBox 30" id="30"/>
            <p:cNvSpPr txBox="true"/>
            <p:nvPr/>
          </p:nvSpPr>
          <p:spPr>
            <a:xfrm>
              <a:off x="0" y="-19050"/>
              <a:ext cx="4088012" cy="549076"/>
            </a:xfrm>
            <a:prstGeom prst="rect">
              <a:avLst/>
            </a:prstGeom>
          </p:spPr>
          <p:txBody>
            <a:bodyPr anchor="t" rtlCol="false" tIns="0" lIns="0" bIns="0" rIns="0"/>
            <a:lstStyle/>
            <a:p>
              <a:pPr algn="l">
                <a:lnSpc>
                  <a:spcPts val="3000"/>
                </a:lnSpc>
              </a:pPr>
              <a:r>
                <a:rPr lang="en-US" sz="2375" spc="-72">
                  <a:solidFill>
                    <a:srgbClr val="2B2E3C"/>
                  </a:solidFill>
                  <a:latin typeface="Bitter"/>
                  <a:ea typeface="Bitter"/>
                  <a:cs typeface="Bitter"/>
                  <a:sym typeface="Bitter"/>
                </a:rPr>
                <a:t>Tanh</a:t>
              </a:r>
            </a:p>
          </p:txBody>
        </p:sp>
      </p:grpSp>
      <p:grpSp>
        <p:nvGrpSpPr>
          <p:cNvPr name="Group 31" id="31"/>
          <p:cNvGrpSpPr/>
          <p:nvPr/>
        </p:nvGrpSpPr>
        <p:grpSpPr>
          <a:xfrm rot="0">
            <a:off x="1113234" y="6030962"/>
            <a:ext cx="9203531" cy="449461"/>
            <a:chOff x="0" y="0"/>
            <a:chExt cx="12271375" cy="599281"/>
          </a:xfrm>
        </p:grpSpPr>
        <p:sp>
          <p:nvSpPr>
            <p:cNvPr name="Freeform 32" id="32"/>
            <p:cNvSpPr/>
            <p:nvPr/>
          </p:nvSpPr>
          <p:spPr>
            <a:xfrm flipH="false" flipV="false" rot="0">
              <a:off x="0" y="0"/>
              <a:ext cx="12271375" cy="599281"/>
            </a:xfrm>
            <a:custGeom>
              <a:avLst/>
              <a:gdLst/>
              <a:ahLst/>
              <a:cxnLst/>
              <a:rect r="r" b="b" t="t" l="l"/>
              <a:pathLst>
                <a:path h="599281" w="12271375">
                  <a:moveTo>
                    <a:pt x="0" y="0"/>
                  </a:moveTo>
                  <a:lnTo>
                    <a:pt x="12271375" y="0"/>
                  </a:lnTo>
                  <a:lnTo>
                    <a:pt x="12271375" y="599281"/>
                  </a:lnTo>
                  <a:lnTo>
                    <a:pt x="0" y="599281"/>
                  </a:lnTo>
                  <a:close/>
                </a:path>
              </a:pathLst>
            </a:custGeom>
            <a:solidFill>
              <a:srgbClr val="000000">
                <a:alpha val="0"/>
              </a:srgbClr>
            </a:solidFill>
          </p:spPr>
        </p:sp>
        <p:sp>
          <p:nvSpPr>
            <p:cNvPr name="TextBox 33" id="33"/>
            <p:cNvSpPr txBox="true"/>
            <p:nvPr/>
          </p:nvSpPr>
          <p:spPr>
            <a:xfrm>
              <a:off x="0" y="-76200"/>
              <a:ext cx="12271375" cy="675481"/>
            </a:xfrm>
            <a:prstGeom prst="rect">
              <a:avLst/>
            </a:prstGeom>
          </p:spPr>
          <p:txBody>
            <a:bodyPr anchor="t" rtlCol="false" tIns="0" lIns="0" bIns="0" rIns="0"/>
            <a:lstStyle/>
            <a:p>
              <a:pPr algn="l">
                <a:lnSpc>
                  <a:spcPts val="3062"/>
                </a:lnSpc>
              </a:pPr>
              <a:r>
                <a:rPr lang="en-US" sz="1874" spc="-38">
                  <a:solidFill>
                    <a:srgbClr val="2B2E3C"/>
                  </a:solidFill>
                  <a:latin typeface="Open Sans"/>
                  <a:ea typeface="Open Sans"/>
                  <a:cs typeface="Open Sans"/>
                  <a:sym typeface="Open Sans"/>
                </a:rPr>
                <a:t>Output between -1 and 1.</a:t>
              </a:r>
            </a:p>
          </p:txBody>
        </p:sp>
      </p:grpSp>
      <p:sp>
        <p:nvSpPr>
          <p:cNvPr name="Freeform 34" id="34"/>
          <p:cNvSpPr/>
          <p:nvPr/>
        </p:nvSpPr>
        <p:spPr>
          <a:xfrm flipH="false" flipV="false" rot="0">
            <a:off x="853679" y="6975722"/>
            <a:ext cx="9722739" cy="1441704"/>
          </a:xfrm>
          <a:custGeom>
            <a:avLst/>
            <a:gdLst/>
            <a:ahLst/>
            <a:cxnLst/>
            <a:rect r="r" b="b" t="t" l="l"/>
            <a:pathLst>
              <a:path h="1441704" w="9722739">
                <a:moveTo>
                  <a:pt x="0" y="0"/>
                </a:moveTo>
                <a:lnTo>
                  <a:pt x="9722739" y="0"/>
                </a:lnTo>
                <a:lnTo>
                  <a:pt x="9722739" y="1441704"/>
                </a:lnTo>
                <a:lnTo>
                  <a:pt x="0" y="1441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5" id="35"/>
          <p:cNvGrpSpPr/>
          <p:nvPr/>
        </p:nvGrpSpPr>
        <p:grpSpPr>
          <a:xfrm rot="0">
            <a:off x="1113234" y="7220992"/>
            <a:ext cx="3066009" cy="397519"/>
            <a:chOff x="0" y="0"/>
            <a:chExt cx="4088012" cy="530026"/>
          </a:xfrm>
        </p:grpSpPr>
        <p:sp>
          <p:nvSpPr>
            <p:cNvPr name="Freeform 36" id="36"/>
            <p:cNvSpPr/>
            <p:nvPr/>
          </p:nvSpPr>
          <p:spPr>
            <a:xfrm flipH="false" flipV="false" rot="0">
              <a:off x="0" y="0"/>
              <a:ext cx="4088012" cy="530026"/>
            </a:xfrm>
            <a:custGeom>
              <a:avLst/>
              <a:gdLst/>
              <a:ahLst/>
              <a:cxnLst/>
              <a:rect r="r" b="b" t="t" l="l"/>
              <a:pathLst>
                <a:path h="530026" w="4088012">
                  <a:moveTo>
                    <a:pt x="0" y="0"/>
                  </a:moveTo>
                  <a:lnTo>
                    <a:pt x="4088012" y="0"/>
                  </a:lnTo>
                  <a:lnTo>
                    <a:pt x="4088012" y="530026"/>
                  </a:lnTo>
                  <a:lnTo>
                    <a:pt x="0" y="530026"/>
                  </a:lnTo>
                  <a:close/>
                </a:path>
              </a:pathLst>
            </a:custGeom>
            <a:solidFill>
              <a:srgbClr val="000000">
                <a:alpha val="0"/>
              </a:srgbClr>
            </a:solidFill>
          </p:spPr>
        </p:sp>
        <p:sp>
          <p:nvSpPr>
            <p:cNvPr name="TextBox 37" id="37"/>
            <p:cNvSpPr txBox="true"/>
            <p:nvPr/>
          </p:nvSpPr>
          <p:spPr>
            <a:xfrm>
              <a:off x="0" y="-19050"/>
              <a:ext cx="4088012" cy="549076"/>
            </a:xfrm>
            <a:prstGeom prst="rect">
              <a:avLst/>
            </a:prstGeom>
          </p:spPr>
          <p:txBody>
            <a:bodyPr anchor="t" rtlCol="false" tIns="0" lIns="0" bIns="0" rIns="0"/>
            <a:lstStyle/>
            <a:p>
              <a:pPr algn="l">
                <a:lnSpc>
                  <a:spcPts val="3000"/>
                </a:lnSpc>
              </a:pPr>
              <a:r>
                <a:rPr lang="en-US" sz="2375" spc="-72">
                  <a:solidFill>
                    <a:srgbClr val="2B2E3C"/>
                  </a:solidFill>
                  <a:latin typeface="Bitter"/>
                  <a:ea typeface="Bitter"/>
                  <a:cs typeface="Bitter"/>
                  <a:sym typeface="Bitter"/>
                </a:rPr>
                <a:t>Softmax</a:t>
              </a:r>
            </a:p>
          </p:txBody>
        </p:sp>
      </p:grpSp>
      <p:grpSp>
        <p:nvGrpSpPr>
          <p:cNvPr name="Group 38" id="38"/>
          <p:cNvGrpSpPr/>
          <p:nvPr/>
        </p:nvGrpSpPr>
        <p:grpSpPr>
          <a:xfrm rot="0">
            <a:off x="1113234" y="7708404"/>
            <a:ext cx="9203531" cy="449461"/>
            <a:chOff x="0" y="0"/>
            <a:chExt cx="12271375" cy="599281"/>
          </a:xfrm>
        </p:grpSpPr>
        <p:sp>
          <p:nvSpPr>
            <p:cNvPr name="Freeform 39" id="39"/>
            <p:cNvSpPr/>
            <p:nvPr/>
          </p:nvSpPr>
          <p:spPr>
            <a:xfrm flipH="false" flipV="false" rot="0">
              <a:off x="0" y="0"/>
              <a:ext cx="12271375" cy="599281"/>
            </a:xfrm>
            <a:custGeom>
              <a:avLst/>
              <a:gdLst/>
              <a:ahLst/>
              <a:cxnLst/>
              <a:rect r="r" b="b" t="t" l="l"/>
              <a:pathLst>
                <a:path h="599281" w="12271375">
                  <a:moveTo>
                    <a:pt x="0" y="0"/>
                  </a:moveTo>
                  <a:lnTo>
                    <a:pt x="12271375" y="0"/>
                  </a:lnTo>
                  <a:lnTo>
                    <a:pt x="12271375" y="599281"/>
                  </a:lnTo>
                  <a:lnTo>
                    <a:pt x="0" y="599281"/>
                  </a:lnTo>
                  <a:close/>
                </a:path>
              </a:pathLst>
            </a:custGeom>
            <a:solidFill>
              <a:srgbClr val="000000">
                <a:alpha val="0"/>
              </a:srgbClr>
            </a:solidFill>
          </p:spPr>
        </p:sp>
        <p:sp>
          <p:nvSpPr>
            <p:cNvPr name="TextBox 40" id="40"/>
            <p:cNvSpPr txBox="true"/>
            <p:nvPr/>
          </p:nvSpPr>
          <p:spPr>
            <a:xfrm>
              <a:off x="0" y="-76200"/>
              <a:ext cx="12271375" cy="675481"/>
            </a:xfrm>
            <a:prstGeom prst="rect">
              <a:avLst/>
            </a:prstGeom>
          </p:spPr>
          <p:txBody>
            <a:bodyPr anchor="t" rtlCol="false" tIns="0" lIns="0" bIns="0" rIns="0"/>
            <a:lstStyle/>
            <a:p>
              <a:pPr algn="l">
                <a:lnSpc>
                  <a:spcPts val="3062"/>
                </a:lnSpc>
              </a:pPr>
              <a:r>
                <a:rPr lang="en-US" sz="1874" spc="-38">
                  <a:solidFill>
                    <a:srgbClr val="2B2E3C"/>
                  </a:solidFill>
                  <a:latin typeface="Open Sans"/>
                  <a:ea typeface="Open Sans"/>
                  <a:cs typeface="Open Sans"/>
                  <a:sym typeface="Open Sans"/>
                </a:rPr>
                <a:t>Multi-class probability distribution.</a:t>
              </a:r>
            </a:p>
          </p:txBody>
        </p:sp>
      </p:grpSp>
      <p:grpSp>
        <p:nvGrpSpPr>
          <p:cNvPr name="Group 41" id="41"/>
          <p:cNvGrpSpPr/>
          <p:nvPr/>
        </p:nvGrpSpPr>
        <p:grpSpPr>
          <a:xfrm rot="0">
            <a:off x="858441" y="8631436"/>
            <a:ext cx="9713119" cy="841772"/>
            <a:chOff x="0" y="0"/>
            <a:chExt cx="12950825" cy="1122363"/>
          </a:xfrm>
        </p:grpSpPr>
        <p:sp>
          <p:nvSpPr>
            <p:cNvPr name="Freeform 42" id="42"/>
            <p:cNvSpPr/>
            <p:nvPr/>
          </p:nvSpPr>
          <p:spPr>
            <a:xfrm flipH="false" flipV="false" rot="0">
              <a:off x="0" y="0"/>
              <a:ext cx="12950825" cy="1122363"/>
            </a:xfrm>
            <a:custGeom>
              <a:avLst/>
              <a:gdLst/>
              <a:ahLst/>
              <a:cxnLst/>
              <a:rect r="r" b="b" t="t" l="l"/>
              <a:pathLst>
                <a:path h="1122363" w="12950825">
                  <a:moveTo>
                    <a:pt x="0" y="0"/>
                  </a:moveTo>
                  <a:lnTo>
                    <a:pt x="12950825" y="0"/>
                  </a:lnTo>
                  <a:lnTo>
                    <a:pt x="12950825" y="1122363"/>
                  </a:lnTo>
                  <a:lnTo>
                    <a:pt x="0" y="1122363"/>
                  </a:lnTo>
                  <a:close/>
                </a:path>
              </a:pathLst>
            </a:custGeom>
            <a:solidFill>
              <a:srgbClr val="000000">
                <a:alpha val="0"/>
              </a:srgbClr>
            </a:solidFill>
          </p:spPr>
        </p:sp>
        <p:sp>
          <p:nvSpPr>
            <p:cNvPr name="TextBox 43" id="43"/>
            <p:cNvSpPr txBox="true"/>
            <p:nvPr/>
          </p:nvSpPr>
          <p:spPr>
            <a:xfrm>
              <a:off x="0" y="-76200"/>
              <a:ext cx="12950825" cy="1198563"/>
            </a:xfrm>
            <a:prstGeom prst="rect">
              <a:avLst/>
            </a:prstGeom>
          </p:spPr>
          <p:txBody>
            <a:bodyPr anchor="t" rtlCol="false" tIns="0" lIns="0" bIns="0" rIns="0"/>
            <a:lstStyle/>
            <a:p>
              <a:pPr algn="l">
                <a:lnSpc>
                  <a:spcPts val="3062"/>
                </a:lnSpc>
              </a:pPr>
              <a:r>
                <a:rPr lang="en-US" sz="1874" spc="-38">
                  <a:solidFill>
                    <a:srgbClr val="2B2E3C"/>
                  </a:solidFill>
                  <a:latin typeface="Open Sans"/>
                  <a:ea typeface="Open Sans"/>
                  <a:cs typeface="Open Sans"/>
                  <a:sym typeface="Open Sans"/>
                </a:rPr>
                <a:t>Selecting the right activation function is critical. ReLU is a popular choice. Sigmoid and Tanh offer unique output ranges. Softmax is ideal for multi-class problems.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81" t="0" r="-83"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92238" y="4019996"/>
            <a:ext cx="7088237" cy="900262"/>
            <a:chOff x="0" y="0"/>
            <a:chExt cx="9450983" cy="1200349"/>
          </a:xfrm>
        </p:grpSpPr>
        <p:sp>
          <p:nvSpPr>
            <p:cNvPr name="Freeform 11" id="11"/>
            <p:cNvSpPr/>
            <p:nvPr/>
          </p:nvSpPr>
          <p:spPr>
            <a:xfrm flipH="false" flipV="false" rot="0">
              <a:off x="0" y="0"/>
              <a:ext cx="9450983" cy="1200349"/>
            </a:xfrm>
            <a:custGeom>
              <a:avLst/>
              <a:gdLst/>
              <a:ahLst/>
              <a:cxnLst/>
              <a:rect r="r" b="b" t="t" l="l"/>
              <a:pathLst>
                <a:path h="1200349" w="9450983">
                  <a:moveTo>
                    <a:pt x="0" y="0"/>
                  </a:moveTo>
                  <a:lnTo>
                    <a:pt x="9450983" y="0"/>
                  </a:lnTo>
                  <a:lnTo>
                    <a:pt x="9450983" y="1200349"/>
                  </a:lnTo>
                  <a:lnTo>
                    <a:pt x="0" y="1200349"/>
                  </a:lnTo>
                  <a:close/>
                </a:path>
              </a:pathLst>
            </a:custGeom>
            <a:solidFill>
              <a:srgbClr val="000000">
                <a:alpha val="0"/>
              </a:srgbClr>
            </a:solidFill>
          </p:spPr>
        </p:sp>
        <p:sp>
          <p:nvSpPr>
            <p:cNvPr name="TextBox 12" id="12"/>
            <p:cNvSpPr txBox="true"/>
            <p:nvPr/>
          </p:nvSpPr>
          <p:spPr>
            <a:xfrm>
              <a:off x="0" y="-19050"/>
              <a:ext cx="9450983" cy="1219399"/>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TensorFlow</a:t>
              </a:r>
            </a:p>
          </p:txBody>
        </p:sp>
      </p:grpSp>
      <p:grpSp>
        <p:nvGrpSpPr>
          <p:cNvPr name="Group 13" id="13"/>
          <p:cNvGrpSpPr/>
          <p:nvPr/>
        </p:nvGrpSpPr>
        <p:grpSpPr>
          <a:xfrm rot="0">
            <a:off x="992238" y="5281166"/>
            <a:ext cx="9445526" cy="971550"/>
            <a:chOff x="0" y="0"/>
            <a:chExt cx="12594035" cy="1295400"/>
          </a:xfrm>
        </p:grpSpPr>
        <p:sp>
          <p:nvSpPr>
            <p:cNvPr name="Freeform 14" id="14"/>
            <p:cNvSpPr/>
            <p:nvPr/>
          </p:nvSpPr>
          <p:spPr>
            <a:xfrm flipH="false" flipV="false" rot="0">
              <a:off x="0" y="0"/>
              <a:ext cx="12594034" cy="1295400"/>
            </a:xfrm>
            <a:custGeom>
              <a:avLst/>
              <a:gdLst/>
              <a:ahLst/>
              <a:cxnLst/>
              <a:rect r="r" b="b" t="t" l="l"/>
              <a:pathLst>
                <a:path h="1295400" w="12594034">
                  <a:moveTo>
                    <a:pt x="0" y="0"/>
                  </a:moveTo>
                  <a:lnTo>
                    <a:pt x="12594034" y="0"/>
                  </a:lnTo>
                  <a:lnTo>
                    <a:pt x="12594034" y="1295400"/>
                  </a:lnTo>
                  <a:lnTo>
                    <a:pt x="0" y="1295400"/>
                  </a:lnTo>
                  <a:close/>
                </a:path>
              </a:pathLst>
            </a:custGeom>
            <a:solidFill>
              <a:srgbClr val="000000">
                <a:alpha val="0"/>
              </a:srgbClr>
            </a:solidFill>
          </p:spPr>
        </p:sp>
        <p:sp>
          <p:nvSpPr>
            <p:cNvPr name="TextBox 15" id="15"/>
            <p:cNvSpPr txBox="true"/>
            <p:nvPr/>
          </p:nvSpPr>
          <p:spPr>
            <a:xfrm>
              <a:off x="0" y="-85725"/>
              <a:ext cx="12594035"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A comprehensive overview of using TensorFlow for machine learning in Python.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0" y="0"/>
            <a:ext cx="6858000" cy="10287744"/>
            <a:chOff x="0" y="0"/>
            <a:chExt cx="9144000" cy="13716992"/>
          </a:xfrm>
        </p:grpSpPr>
        <p:sp>
          <p:nvSpPr>
            <p:cNvPr name="Freeform 7" id="7" descr="preencoded.png"/>
            <p:cNvSpPr/>
            <p:nvPr/>
          </p:nvSpPr>
          <p:spPr>
            <a:xfrm flipH="false" flipV="false" rot="0">
              <a:off x="0" y="0"/>
              <a:ext cx="9144000" cy="13717015"/>
            </a:xfrm>
            <a:custGeom>
              <a:avLst/>
              <a:gdLst/>
              <a:ahLst/>
              <a:cxnLst/>
              <a:rect r="r" b="b" t="t" l="l"/>
              <a:pathLst>
                <a:path h="13717015" w="9144000">
                  <a:moveTo>
                    <a:pt x="0" y="0"/>
                  </a:moveTo>
                  <a:lnTo>
                    <a:pt x="9144000" y="0"/>
                  </a:lnTo>
                  <a:lnTo>
                    <a:pt x="9144000" y="13717015"/>
                  </a:lnTo>
                  <a:lnTo>
                    <a:pt x="0" y="13717015"/>
                  </a:lnTo>
                  <a:lnTo>
                    <a:pt x="0" y="0"/>
                  </a:lnTo>
                  <a:close/>
                </a:path>
              </a:pathLst>
            </a:custGeom>
            <a:blipFill>
              <a:blip r:embed="rId3"/>
              <a:stretch>
                <a:fillRect l="-3" t="0" r="-3" b="0"/>
              </a:stretch>
            </a:blipFill>
          </p:spPr>
        </p:sp>
      </p:grpSp>
      <p:grpSp>
        <p:nvGrpSpPr>
          <p:cNvPr name="Group 8" id="8"/>
          <p:cNvGrpSpPr/>
          <p:nvPr/>
        </p:nvGrpSpPr>
        <p:grpSpPr>
          <a:xfrm rot="0">
            <a:off x="7755582" y="690859"/>
            <a:ext cx="9634835" cy="1617166"/>
            <a:chOff x="0" y="0"/>
            <a:chExt cx="12846447" cy="2156222"/>
          </a:xfrm>
        </p:grpSpPr>
        <p:sp>
          <p:nvSpPr>
            <p:cNvPr name="Freeform 9" id="9"/>
            <p:cNvSpPr/>
            <p:nvPr/>
          </p:nvSpPr>
          <p:spPr>
            <a:xfrm flipH="false" flipV="false" rot="0">
              <a:off x="0" y="0"/>
              <a:ext cx="12846447" cy="2156222"/>
            </a:xfrm>
            <a:custGeom>
              <a:avLst/>
              <a:gdLst/>
              <a:ahLst/>
              <a:cxnLst/>
              <a:rect r="r" b="b" t="t" l="l"/>
              <a:pathLst>
                <a:path h="2156222" w="12846447">
                  <a:moveTo>
                    <a:pt x="0" y="0"/>
                  </a:moveTo>
                  <a:lnTo>
                    <a:pt x="12846447" y="0"/>
                  </a:lnTo>
                  <a:lnTo>
                    <a:pt x="12846447" y="2156222"/>
                  </a:lnTo>
                  <a:lnTo>
                    <a:pt x="0" y="2156222"/>
                  </a:lnTo>
                  <a:close/>
                </a:path>
              </a:pathLst>
            </a:custGeom>
            <a:solidFill>
              <a:srgbClr val="000000">
                <a:alpha val="0"/>
              </a:srgbClr>
            </a:solidFill>
          </p:spPr>
        </p:sp>
        <p:sp>
          <p:nvSpPr>
            <p:cNvPr name="TextBox 10" id="10"/>
            <p:cNvSpPr txBox="true"/>
            <p:nvPr/>
          </p:nvSpPr>
          <p:spPr>
            <a:xfrm>
              <a:off x="0" y="-19050"/>
              <a:ext cx="12846447" cy="2175272"/>
            </a:xfrm>
            <a:prstGeom prst="rect">
              <a:avLst/>
            </a:prstGeom>
          </p:spPr>
          <p:txBody>
            <a:bodyPr anchor="t" rtlCol="false" tIns="0" lIns="0" bIns="0" rIns="0"/>
            <a:lstStyle/>
            <a:p>
              <a:pPr algn="l">
                <a:lnSpc>
                  <a:spcPts val="6249"/>
                </a:lnSpc>
              </a:pPr>
              <a:r>
                <a:rPr lang="en-US" sz="4999" spc="-151">
                  <a:solidFill>
                    <a:srgbClr val="2C3F42"/>
                  </a:solidFill>
                  <a:latin typeface="Bitter"/>
                  <a:ea typeface="Bitter"/>
                  <a:cs typeface="Bitter"/>
                  <a:sym typeface="Bitter"/>
                </a:rPr>
                <a:t>Optimizers: Guiding the Training Process</a:t>
              </a:r>
            </a:p>
          </p:txBody>
        </p:sp>
      </p:grpSp>
      <p:sp>
        <p:nvSpPr>
          <p:cNvPr name="Freeform 11" id="11"/>
          <p:cNvSpPr/>
          <p:nvPr/>
        </p:nvSpPr>
        <p:spPr>
          <a:xfrm flipH="false" flipV="false" rot="0">
            <a:off x="7750820" y="2976265"/>
            <a:ext cx="586549" cy="586549"/>
          </a:xfrm>
          <a:custGeom>
            <a:avLst/>
            <a:gdLst/>
            <a:ahLst/>
            <a:cxnLst/>
            <a:rect r="r" b="b" t="t" l="l"/>
            <a:pathLst>
              <a:path h="586549" w="586549">
                <a:moveTo>
                  <a:pt x="0" y="0"/>
                </a:moveTo>
                <a:lnTo>
                  <a:pt x="586549" y="0"/>
                </a:lnTo>
                <a:lnTo>
                  <a:pt x="586549" y="586549"/>
                </a:lnTo>
                <a:lnTo>
                  <a:pt x="0" y="586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7851725" y="3029025"/>
            <a:ext cx="384573" cy="480864"/>
            <a:chOff x="0" y="0"/>
            <a:chExt cx="512764" cy="641152"/>
          </a:xfrm>
        </p:grpSpPr>
        <p:sp>
          <p:nvSpPr>
            <p:cNvPr name="Freeform 13" id="13" descr="preencoded.png"/>
            <p:cNvSpPr/>
            <p:nvPr/>
          </p:nvSpPr>
          <p:spPr>
            <a:xfrm flipH="false" flipV="false" rot="0">
              <a:off x="0" y="0"/>
              <a:ext cx="512826" cy="641096"/>
            </a:xfrm>
            <a:custGeom>
              <a:avLst/>
              <a:gdLst/>
              <a:ahLst/>
              <a:cxnLst/>
              <a:rect r="r" b="b" t="t" l="l"/>
              <a:pathLst>
                <a:path h="641096" w="512826">
                  <a:moveTo>
                    <a:pt x="0" y="0"/>
                  </a:moveTo>
                  <a:lnTo>
                    <a:pt x="512826" y="0"/>
                  </a:lnTo>
                  <a:lnTo>
                    <a:pt x="512826" y="641096"/>
                  </a:lnTo>
                  <a:lnTo>
                    <a:pt x="0" y="641096"/>
                  </a:lnTo>
                  <a:lnTo>
                    <a:pt x="0" y="0"/>
                  </a:lnTo>
                  <a:close/>
                </a:path>
              </a:pathLst>
            </a:custGeom>
            <a:blipFill>
              <a:blip r:embed="rId6"/>
              <a:stretch>
                <a:fillRect l="-15" t="0" r="-3" b="-8"/>
              </a:stretch>
            </a:blipFill>
          </p:spPr>
        </p:sp>
      </p:grpSp>
      <p:grpSp>
        <p:nvGrpSpPr>
          <p:cNvPr name="Group 14" id="14"/>
          <p:cNvGrpSpPr/>
          <p:nvPr/>
        </p:nvGrpSpPr>
        <p:grpSpPr>
          <a:xfrm rot="0">
            <a:off x="8589020" y="2966740"/>
            <a:ext cx="3205757" cy="414933"/>
            <a:chOff x="0" y="0"/>
            <a:chExt cx="4274343" cy="553243"/>
          </a:xfrm>
        </p:grpSpPr>
        <p:sp>
          <p:nvSpPr>
            <p:cNvPr name="Freeform 15" id="15"/>
            <p:cNvSpPr/>
            <p:nvPr/>
          </p:nvSpPr>
          <p:spPr>
            <a:xfrm flipH="false" flipV="false" rot="0">
              <a:off x="0" y="0"/>
              <a:ext cx="4274343" cy="553243"/>
            </a:xfrm>
            <a:custGeom>
              <a:avLst/>
              <a:gdLst/>
              <a:ahLst/>
              <a:cxnLst/>
              <a:rect r="r" b="b" t="t" l="l"/>
              <a:pathLst>
                <a:path h="553243" w="4274343">
                  <a:moveTo>
                    <a:pt x="0" y="0"/>
                  </a:moveTo>
                  <a:lnTo>
                    <a:pt x="4274343" y="0"/>
                  </a:lnTo>
                  <a:lnTo>
                    <a:pt x="4274343" y="553243"/>
                  </a:lnTo>
                  <a:lnTo>
                    <a:pt x="0" y="553243"/>
                  </a:lnTo>
                  <a:close/>
                </a:path>
              </a:pathLst>
            </a:custGeom>
            <a:solidFill>
              <a:srgbClr val="000000">
                <a:alpha val="0"/>
              </a:srgbClr>
            </a:solidFill>
          </p:spPr>
        </p:sp>
        <p:sp>
          <p:nvSpPr>
            <p:cNvPr name="TextBox 16" id="16"/>
            <p:cNvSpPr txBox="true"/>
            <p:nvPr/>
          </p:nvSpPr>
          <p:spPr>
            <a:xfrm>
              <a:off x="0" y="-9525"/>
              <a:ext cx="4274343" cy="562768"/>
            </a:xfrm>
            <a:prstGeom prst="rect">
              <a:avLst/>
            </a:prstGeom>
          </p:spPr>
          <p:txBody>
            <a:bodyPr anchor="t" rtlCol="false" tIns="0" lIns="0" bIns="0" rIns="0"/>
            <a:lstStyle/>
            <a:p>
              <a:pPr algn="l">
                <a:lnSpc>
                  <a:spcPts val="3124"/>
                </a:lnSpc>
              </a:pPr>
              <a:r>
                <a:rPr lang="en-US" sz="2499" spc="-76">
                  <a:solidFill>
                    <a:srgbClr val="2B2E3C"/>
                  </a:solidFill>
                  <a:latin typeface="Bitter"/>
                  <a:ea typeface="Bitter"/>
                  <a:cs typeface="Bitter"/>
                  <a:sym typeface="Bitter"/>
                </a:rPr>
                <a:t>Gradient Descent</a:t>
              </a:r>
            </a:p>
          </p:txBody>
        </p:sp>
      </p:grpSp>
      <p:grpSp>
        <p:nvGrpSpPr>
          <p:cNvPr name="Group 17" id="17"/>
          <p:cNvGrpSpPr/>
          <p:nvPr/>
        </p:nvGrpSpPr>
        <p:grpSpPr>
          <a:xfrm rot="0">
            <a:off x="8589020" y="3478262"/>
            <a:ext cx="8801398" cy="467320"/>
            <a:chOff x="0" y="0"/>
            <a:chExt cx="11735197" cy="623093"/>
          </a:xfrm>
        </p:grpSpPr>
        <p:sp>
          <p:nvSpPr>
            <p:cNvPr name="Freeform 18" id="18"/>
            <p:cNvSpPr/>
            <p:nvPr/>
          </p:nvSpPr>
          <p:spPr>
            <a:xfrm flipH="false" flipV="false" rot="0">
              <a:off x="0" y="0"/>
              <a:ext cx="11735198" cy="623093"/>
            </a:xfrm>
            <a:custGeom>
              <a:avLst/>
              <a:gdLst/>
              <a:ahLst/>
              <a:cxnLst/>
              <a:rect r="r" b="b" t="t" l="l"/>
              <a:pathLst>
                <a:path h="623093" w="11735198">
                  <a:moveTo>
                    <a:pt x="0" y="0"/>
                  </a:moveTo>
                  <a:lnTo>
                    <a:pt x="11735198" y="0"/>
                  </a:lnTo>
                  <a:lnTo>
                    <a:pt x="11735198" y="623093"/>
                  </a:lnTo>
                  <a:lnTo>
                    <a:pt x="0" y="623093"/>
                  </a:lnTo>
                  <a:close/>
                </a:path>
              </a:pathLst>
            </a:custGeom>
            <a:solidFill>
              <a:srgbClr val="000000">
                <a:alpha val="0"/>
              </a:srgbClr>
            </a:solidFill>
          </p:spPr>
        </p:sp>
        <p:sp>
          <p:nvSpPr>
            <p:cNvPr name="TextBox 19" id="19"/>
            <p:cNvSpPr txBox="true"/>
            <p:nvPr/>
          </p:nvSpPr>
          <p:spPr>
            <a:xfrm>
              <a:off x="0" y="-76200"/>
              <a:ext cx="11735197" cy="699293"/>
            </a:xfrm>
            <a:prstGeom prst="rect">
              <a:avLst/>
            </a:prstGeom>
          </p:spPr>
          <p:txBody>
            <a:bodyPr anchor="t" rtlCol="false" tIns="0" lIns="0" bIns="0" rIns="0"/>
            <a:lstStyle/>
            <a:p>
              <a:pPr algn="l">
                <a:lnSpc>
                  <a:spcPts val="3186"/>
                </a:lnSpc>
              </a:pPr>
              <a:r>
                <a:rPr lang="en-US" sz="2000" spc="-40">
                  <a:solidFill>
                    <a:srgbClr val="2B2E3C"/>
                  </a:solidFill>
                  <a:latin typeface="Open Sans"/>
                  <a:ea typeface="Open Sans"/>
                  <a:cs typeface="Open Sans"/>
                  <a:sym typeface="Open Sans"/>
                </a:rPr>
                <a:t>Basic optimization algorithm.</a:t>
              </a:r>
            </a:p>
          </p:txBody>
        </p:sp>
      </p:grpSp>
      <p:sp>
        <p:nvSpPr>
          <p:cNvPr name="Freeform 20" id="20"/>
          <p:cNvSpPr/>
          <p:nvPr/>
        </p:nvSpPr>
        <p:spPr>
          <a:xfrm flipH="false" flipV="false" rot="0">
            <a:off x="7750820" y="4485680"/>
            <a:ext cx="586549" cy="586549"/>
          </a:xfrm>
          <a:custGeom>
            <a:avLst/>
            <a:gdLst/>
            <a:ahLst/>
            <a:cxnLst/>
            <a:rect r="r" b="b" t="t" l="l"/>
            <a:pathLst>
              <a:path h="586549" w="586549">
                <a:moveTo>
                  <a:pt x="0" y="0"/>
                </a:moveTo>
                <a:lnTo>
                  <a:pt x="586549" y="0"/>
                </a:lnTo>
                <a:lnTo>
                  <a:pt x="586549" y="586549"/>
                </a:lnTo>
                <a:lnTo>
                  <a:pt x="0" y="586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1" id="21"/>
          <p:cNvGrpSpPr/>
          <p:nvPr/>
        </p:nvGrpSpPr>
        <p:grpSpPr>
          <a:xfrm rot="0">
            <a:off x="7851725" y="4538439"/>
            <a:ext cx="384573" cy="480864"/>
            <a:chOff x="0" y="0"/>
            <a:chExt cx="512764" cy="641152"/>
          </a:xfrm>
        </p:grpSpPr>
        <p:sp>
          <p:nvSpPr>
            <p:cNvPr name="Freeform 22" id="22" descr="preencoded.png"/>
            <p:cNvSpPr/>
            <p:nvPr/>
          </p:nvSpPr>
          <p:spPr>
            <a:xfrm flipH="false" flipV="false" rot="0">
              <a:off x="0" y="0"/>
              <a:ext cx="512826" cy="641096"/>
            </a:xfrm>
            <a:custGeom>
              <a:avLst/>
              <a:gdLst/>
              <a:ahLst/>
              <a:cxnLst/>
              <a:rect r="r" b="b" t="t" l="l"/>
              <a:pathLst>
                <a:path h="641096" w="512826">
                  <a:moveTo>
                    <a:pt x="0" y="0"/>
                  </a:moveTo>
                  <a:lnTo>
                    <a:pt x="512826" y="0"/>
                  </a:lnTo>
                  <a:lnTo>
                    <a:pt x="512826" y="641096"/>
                  </a:lnTo>
                  <a:lnTo>
                    <a:pt x="0" y="641096"/>
                  </a:lnTo>
                  <a:lnTo>
                    <a:pt x="0" y="0"/>
                  </a:lnTo>
                  <a:close/>
                </a:path>
              </a:pathLst>
            </a:custGeom>
            <a:blipFill>
              <a:blip r:embed="rId7"/>
              <a:stretch>
                <a:fillRect l="-15" t="0" r="-3" b="-8"/>
              </a:stretch>
            </a:blipFill>
          </p:spPr>
        </p:sp>
      </p:grpSp>
      <p:grpSp>
        <p:nvGrpSpPr>
          <p:cNvPr name="Group 23" id="23"/>
          <p:cNvGrpSpPr/>
          <p:nvPr/>
        </p:nvGrpSpPr>
        <p:grpSpPr>
          <a:xfrm rot="0">
            <a:off x="8589020" y="4476154"/>
            <a:ext cx="3205757" cy="414933"/>
            <a:chOff x="0" y="0"/>
            <a:chExt cx="4274343" cy="553243"/>
          </a:xfrm>
        </p:grpSpPr>
        <p:sp>
          <p:nvSpPr>
            <p:cNvPr name="Freeform 24" id="24"/>
            <p:cNvSpPr/>
            <p:nvPr/>
          </p:nvSpPr>
          <p:spPr>
            <a:xfrm flipH="false" flipV="false" rot="0">
              <a:off x="0" y="0"/>
              <a:ext cx="4274343" cy="553243"/>
            </a:xfrm>
            <a:custGeom>
              <a:avLst/>
              <a:gdLst/>
              <a:ahLst/>
              <a:cxnLst/>
              <a:rect r="r" b="b" t="t" l="l"/>
              <a:pathLst>
                <a:path h="553243" w="4274343">
                  <a:moveTo>
                    <a:pt x="0" y="0"/>
                  </a:moveTo>
                  <a:lnTo>
                    <a:pt x="4274343" y="0"/>
                  </a:lnTo>
                  <a:lnTo>
                    <a:pt x="4274343" y="553243"/>
                  </a:lnTo>
                  <a:lnTo>
                    <a:pt x="0" y="553243"/>
                  </a:lnTo>
                  <a:close/>
                </a:path>
              </a:pathLst>
            </a:custGeom>
            <a:solidFill>
              <a:srgbClr val="000000">
                <a:alpha val="0"/>
              </a:srgbClr>
            </a:solidFill>
          </p:spPr>
        </p:sp>
        <p:sp>
          <p:nvSpPr>
            <p:cNvPr name="TextBox 25" id="25"/>
            <p:cNvSpPr txBox="true"/>
            <p:nvPr/>
          </p:nvSpPr>
          <p:spPr>
            <a:xfrm>
              <a:off x="0" y="-9525"/>
              <a:ext cx="4274343" cy="562768"/>
            </a:xfrm>
            <a:prstGeom prst="rect">
              <a:avLst/>
            </a:prstGeom>
          </p:spPr>
          <p:txBody>
            <a:bodyPr anchor="t" rtlCol="false" tIns="0" lIns="0" bIns="0" rIns="0"/>
            <a:lstStyle/>
            <a:p>
              <a:pPr algn="l">
                <a:lnSpc>
                  <a:spcPts val="3124"/>
                </a:lnSpc>
              </a:pPr>
              <a:r>
                <a:rPr lang="en-US" sz="2499" spc="-76">
                  <a:solidFill>
                    <a:srgbClr val="2B2E3C"/>
                  </a:solidFill>
                  <a:latin typeface="Bitter"/>
                  <a:ea typeface="Bitter"/>
                  <a:cs typeface="Bitter"/>
                  <a:sym typeface="Bitter"/>
                </a:rPr>
                <a:t>Adam</a:t>
              </a:r>
            </a:p>
          </p:txBody>
        </p:sp>
      </p:grpSp>
      <p:grpSp>
        <p:nvGrpSpPr>
          <p:cNvPr name="Group 26" id="26"/>
          <p:cNvGrpSpPr/>
          <p:nvPr/>
        </p:nvGrpSpPr>
        <p:grpSpPr>
          <a:xfrm rot="0">
            <a:off x="8589020" y="4987678"/>
            <a:ext cx="8801398" cy="467320"/>
            <a:chOff x="0" y="0"/>
            <a:chExt cx="11735197" cy="623093"/>
          </a:xfrm>
        </p:grpSpPr>
        <p:sp>
          <p:nvSpPr>
            <p:cNvPr name="Freeform 27" id="27"/>
            <p:cNvSpPr/>
            <p:nvPr/>
          </p:nvSpPr>
          <p:spPr>
            <a:xfrm flipH="false" flipV="false" rot="0">
              <a:off x="0" y="0"/>
              <a:ext cx="11735198" cy="623093"/>
            </a:xfrm>
            <a:custGeom>
              <a:avLst/>
              <a:gdLst/>
              <a:ahLst/>
              <a:cxnLst/>
              <a:rect r="r" b="b" t="t" l="l"/>
              <a:pathLst>
                <a:path h="623093" w="11735198">
                  <a:moveTo>
                    <a:pt x="0" y="0"/>
                  </a:moveTo>
                  <a:lnTo>
                    <a:pt x="11735198" y="0"/>
                  </a:lnTo>
                  <a:lnTo>
                    <a:pt x="11735198" y="623093"/>
                  </a:lnTo>
                  <a:lnTo>
                    <a:pt x="0" y="623093"/>
                  </a:lnTo>
                  <a:close/>
                </a:path>
              </a:pathLst>
            </a:custGeom>
            <a:solidFill>
              <a:srgbClr val="000000">
                <a:alpha val="0"/>
              </a:srgbClr>
            </a:solidFill>
          </p:spPr>
        </p:sp>
        <p:sp>
          <p:nvSpPr>
            <p:cNvPr name="TextBox 28" id="28"/>
            <p:cNvSpPr txBox="true"/>
            <p:nvPr/>
          </p:nvSpPr>
          <p:spPr>
            <a:xfrm>
              <a:off x="0" y="-76200"/>
              <a:ext cx="11735197" cy="699293"/>
            </a:xfrm>
            <a:prstGeom prst="rect">
              <a:avLst/>
            </a:prstGeom>
          </p:spPr>
          <p:txBody>
            <a:bodyPr anchor="t" rtlCol="false" tIns="0" lIns="0" bIns="0" rIns="0"/>
            <a:lstStyle/>
            <a:p>
              <a:pPr algn="l">
                <a:lnSpc>
                  <a:spcPts val="3186"/>
                </a:lnSpc>
              </a:pPr>
              <a:r>
                <a:rPr lang="en-US" sz="2000" spc="-40">
                  <a:solidFill>
                    <a:srgbClr val="2B2E3C"/>
                  </a:solidFill>
                  <a:latin typeface="Open Sans"/>
                  <a:ea typeface="Open Sans"/>
                  <a:cs typeface="Open Sans"/>
                  <a:sym typeface="Open Sans"/>
                </a:rPr>
                <a:t>Adaptive Moment Estimation, popular.</a:t>
              </a:r>
            </a:p>
          </p:txBody>
        </p:sp>
      </p:grpSp>
      <p:sp>
        <p:nvSpPr>
          <p:cNvPr name="Freeform 29" id="29"/>
          <p:cNvSpPr/>
          <p:nvPr/>
        </p:nvSpPr>
        <p:spPr>
          <a:xfrm flipH="false" flipV="false" rot="0">
            <a:off x="7750820" y="5995095"/>
            <a:ext cx="586549" cy="586549"/>
          </a:xfrm>
          <a:custGeom>
            <a:avLst/>
            <a:gdLst/>
            <a:ahLst/>
            <a:cxnLst/>
            <a:rect r="r" b="b" t="t" l="l"/>
            <a:pathLst>
              <a:path h="586549" w="586549">
                <a:moveTo>
                  <a:pt x="0" y="0"/>
                </a:moveTo>
                <a:lnTo>
                  <a:pt x="586549" y="0"/>
                </a:lnTo>
                <a:lnTo>
                  <a:pt x="586549" y="586549"/>
                </a:lnTo>
                <a:lnTo>
                  <a:pt x="0" y="586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0" id="30"/>
          <p:cNvGrpSpPr/>
          <p:nvPr/>
        </p:nvGrpSpPr>
        <p:grpSpPr>
          <a:xfrm rot="0">
            <a:off x="7851725" y="6047854"/>
            <a:ext cx="384573" cy="480864"/>
            <a:chOff x="0" y="0"/>
            <a:chExt cx="512764" cy="641152"/>
          </a:xfrm>
        </p:grpSpPr>
        <p:sp>
          <p:nvSpPr>
            <p:cNvPr name="Freeform 31" id="31" descr="preencoded.png"/>
            <p:cNvSpPr/>
            <p:nvPr/>
          </p:nvSpPr>
          <p:spPr>
            <a:xfrm flipH="false" flipV="false" rot="0">
              <a:off x="0" y="0"/>
              <a:ext cx="512826" cy="641096"/>
            </a:xfrm>
            <a:custGeom>
              <a:avLst/>
              <a:gdLst/>
              <a:ahLst/>
              <a:cxnLst/>
              <a:rect r="r" b="b" t="t" l="l"/>
              <a:pathLst>
                <a:path h="641096" w="512826">
                  <a:moveTo>
                    <a:pt x="0" y="0"/>
                  </a:moveTo>
                  <a:lnTo>
                    <a:pt x="512826" y="0"/>
                  </a:lnTo>
                  <a:lnTo>
                    <a:pt x="512826" y="641096"/>
                  </a:lnTo>
                  <a:lnTo>
                    <a:pt x="0" y="641096"/>
                  </a:lnTo>
                  <a:lnTo>
                    <a:pt x="0" y="0"/>
                  </a:lnTo>
                  <a:close/>
                </a:path>
              </a:pathLst>
            </a:custGeom>
            <a:blipFill>
              <a:blip r:embed="rId8"/>
              <a:stretch>
                <a:fillRect l="-15" t="0" r="-3" b="-8"/>
              </a:stretch>
            </a:blipFill>
          </p:spPr>
        </p:sp>
      </p:grpSp>
      <p:grpSp>
        <p:nvGrpSpPr>
          <p:cNvPr name="Group 32" id="32"/>
          <p:cNvGrpSpPr/>
          <p:nvPr/>
        </p:nvGrpSpPr>
        <p:grpSpPr>
          <a:xfrm rot="0">
            <a:off x="8589020" y="5985570"/>
            <a:ext cx="3205757" cy="414933"/>
            <a:chOff x="0" y="0"/>
            <a:chExt cx="4274343" cy="553243"/>
          </a:xfrm>
        </p:grpSpPr>
        <p:sp>
          <p:nvSpPr>
            <p:cNvPr name="Freeform 33" id="33"/>
            <p:cNvSpPr/>
            <p:nvPr/>
          </p:nvSpPr>
          <p:spPr>
            <a:xfrm flipH="false" flipV="false" rot="0">
              <a:off x="0" y="0"/>
              <a:ext cx="4274343" cy="553243"/>
            </a:xfrm>
            <a:custGeom>
              <a:avLst/>
              <a:gdLst/>
              <a:ahLst/>
              <a:cxnLst/>
              <a:rect r="r" b="b" t="t" l="l"/>
              <a:pathLst>
                <a:path h="553243" w="4274343">
                  <a:moveTo>
                    <a:pt x="0" y="0"/>
                  </a:moveTo>
                  <a:lnTo>
                    <a:pt x="4274343" y="0"/>
                  </a:lnTo>
                  <a:lnTo>
                    <a:pt x="4274343" y="553243"/>
                  </a:lnTo>
                  <a:lnTo>
                    <a:pt x="0" y="553243"/>
                  </a:lnTo>
                  <a:close/>
                </a:path>
              </a:pathLst>
            </a:custGeom>
            <a:solidFill>
              <a:srgbClr val="000000">
                <a:alpha val="0"/>
              </a:srgbClr>
            </a:solidFill>
          </p:spPr>
        </p:sp>
        <p:sp>
          <p:nvSpPr>
            <p:cNvPr name="TextBox 34" id="34"/>
            <p:cNvSpPr txBox="true"/>
            <p:nvPr/>
          </p:nvSpPr>
          <p:spPr>
            <a:xfrm>
              <a:off x="0" y="-9525"/>
              <a:ext cx="4274343" cy="562768"/>
            </a:xfrm>
            <a:prstGeom prst="rect">
              <a:avLst/>
            </a:prstGeom>
          </p:spPr>
          <p:txBody>
            <a:bodyPr anchor="t" rtlCol="false" tIns="0" lIns="0" bIns="0" rIns="0"/>
            <a:lstStyle/>
            <a:p>
              <a:pPr algn="l">
                <a:lnSpc>
                  <a:spcPts val="3124"/>
                </a:lnSpc>
              </a:pPr>
              <a:r>
                <a:rPr lang="en-US" sz="2499" spc="-76">
                  <a:solidFill>
                    <a:srgbClr val="2B2E3C"/>
                  </a:solidFill>
                  <a:latin typeface="Bitter"/>
                  <a:ea typeface="Bitter"/>
                  <a:cs typeface="Bitter"/>
                  <a:sym typeface="Bitter"/>
                </a:rPr>
                <a:t>SGD</a:t>
              </a:r>
            </a:p>
          </p:txBody>
        </p:sp>
      </p:grpSp>
      <p:grpSp>
        <p:nvGrpSpPr>
          <p:cNvPr name="Group 35" id="35"/>
          <p:cNvGrpSpPr/>
          <p:nvPr/>
        </p:nvGrpSpPr>
        <p:grpSpPr>
          <a:xfrm rot="0">
            <a:off x="8589020" y="6497091"/>
            <a:ext cx="8801398" cy="467320"/>
            <a:chOff x="0" y="0"/>
            <a:chExt cx="11735197" cy="623093"/>
          </a:xfrm>
        </p:grpSpPr>
        <p:sp>
          <p:nvSpPr>
            <p:cNvPr name="Freeform 36" id="36"/>
            <p:cNvSpPr/>
            <p:nvPr/>
          </p:nvSpPr>
          <p:spPr>
            <a:xfrm flipH="false" flipV="false" rot="0">
              <a:off x="0" y="0"/>
              <a:ext cx="11735198" cy="623093"/>
            </a:xfrm>
            <a:custGeom>
              <a:avLst/>
              <a:gdLst/>
              <a:ahLst/>
              <a:cxnLst/>
              <a:rect r="r" b="b" t="t" l="l"/>
              <a:pathLst>
                <a:path h="623093" w="11735198">
                  <a:moveTo>
                    <a:pt x="0" y="0"/>
                  </a:moveTo>
                  <a:lnTo>
                    <a:pt x="11735198" y="0"/>
                  </a:lnTo>
                  <a:lnTo>
                    <a:pt x="11735198" y="623093"/>
                  </a:lnTo>
                  <a:lnTo>
                    <a:pt x="0" y="623093"/>
                  </a:lnTo>
                  <a:close/>
                </a:path>
              </a:pathLst>
            </a:custGeom>
            <a:solidFill>
              <a:srgbClr val="000000">
                <a:alpha val="0"/>
              </a:srgbClr>
            </a:solidFill>
          </p:spPr>
        </p:sp>
        <p:sp>
          <p:nvSpPr>
            <p:cNvPr name="TextBox 37" id="37"/>
            <p:cNvSpPr txBox="true"/>
            <p:nvPr/>
          </p:nvSpPr>
          <p:spPr>
            <a:xfrm>
              <a:off x="0" y="-76200"/>
              <a:ext cx="11735197" cy="699293"/>
            </a:xfrm>
            <a:prstGeom prst="rect">
              <a:avLst/>
            </a:prstGeom>
          </p:spPr>
          <p:txBody>
            <a:bodyPr anchor="t" rtlCol="false" tIns="0" lIns="0" bIns="0" rIns="0"/>
            <a:lstStyle/>
            <a:p>
              <a:pPr algn="l">
                <a:lnSpc>
                  <a:spcPts val="3186"/>
                </a:lnSpc>
              </a:pPr>
              <a:r>
                <a:rPr lang="en-US" sz="2000" spc="-40">
                  <a:solidFill>
                    <a:srgbClr val="2B2E3C"/>
                  </a:solidFill>
                  <a:latin typeface="Open Sans"/>
                  <a:ea typeface="Open Sans"/>
                  <a:cs typeface="Open Sans"/>
                  <a:sym typeface="Open Sans"/>
                </a:rPr>
                <a:t>Stochastic Gradient Descent, classic.</a:t>
              </a:r>
            </a:p>
          </p:txBody>
        </p:sp>
      </p:grpSp>
      <p:sp>
        <p:nvSpPr>
          <p:cNvPr name="Freeform 38" id="38"/>
          <p:cNvSpPr/>
          <p:nvPr/>
        </p:nvSpPr>
        <p:spPr>
          <a:xfrm flipH="false" flipV="false" rot="0">
            <a:off x="7750820" y="7504510"/>
            <a:ext cx="586549" cy="586549"/>
          </a:xfrm>
          <a:custGeom>
            <a:avLst/>
            <a:gdLst/>
            <a:ahLst/>
            <a:cxnLst/>
            <a:rect r="r" b="b" t="t" l="l"/>
            <a:pathLst>
              <a:path h="586549" w="586549">
                <a:moveTo>
                  <a:pt x="0" y="0"/>
                </a:moveTo>
                <a:lnTo>
                  <a:pt x="586549" y="0"/>
                </a:lnTo>
                <a:lnTo>
                  <a:pt x="586549" y="586549"/>
                </a:lnTo>
                <a:lnTo>
                  <a:pt x="0" y="5865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9" id="39"/>
          <p:cNvGrpSpPr/>
          <p:nvPr/>
        </p:nvGrpSpPr>
        <p:grpSpPr>
          <a:xfrm rot="0">
            <a:off x="7851725" y="7557269"/>
            <a:ext cx="384573" cy="480864"/>
            <a:chOff x="0" y="0"/>
            <a:chExt cx="512764" cy="641152"/>
          </a:xfrm>
        </p:grpSpPr>
        <p:sp>
          <p:nvSpPr>
            <p:cNvPr name="Freeform 40" id="40" descr="preencoded.png"/>
            <p:cNvSpPr/>
            <p:nvPr/>
          </p:nvSpPr>
          <p:spPr>
            <a:xfrm flipH="false" flipV="false" rot="0">
              <a:off x="0" y="0"/>
              <a:ext cx="512826" cy="641096"/>
            </a:xfrm>
            <a:custGeom>
              <a:avLst/>
              <a:gdLst/>
              <a:ahLst/>
              <a:cxnLst/>
              <a:rect r="r" b="b" t="t" l="l"/>
              <a:pathLst>
                <a:path h="641096" w="512826">
                  <a:moveTo>
                    <a:pt x="0" y="0"/>
                  </a:moveTo>
                  <a:lnTo>
                    <a:pt x="512826" y="0"/>
                  </a:lnTo>
                  <a:lnTo>
                    <a:pt x="512826" y="641096"/>
                  </a:lnTo>
                  <a:lnTo>
                    <a:pt x="0" y="641096"/>
                  </a:lnTo>
                  <a:lnTo>
                    <a:pt x="0" y="0"/>
                  </a:lnTo>
                  <a:close/>
                </a:path>
              </a:pathLst>
            </a:custGeom>
            <a:blipFill>
              <a:blip r:embed="rId9"/>
              <a:stretch>
                <a:fillRect l="-15" t="0" r="-3" b="-8"/>
              </a:stretch>
            </a:blipFill>
          </p:spPr>
        </p:sp>
      </p:grpSp>
      <p:grpSp>
        <p:nvGrpSpPr>
          <p:cNvPr name="Group 41" id="41"/>
          <p:cNvGrpSpPr/>
          <p:nvPr/>
        </p:nvGrpSpPr>
        <p:grpSpPr>
          <a:xfrm rot="0">
            <a:off x="8589020" y="7494984"/>
            <a:ext cx="3205757" cy="414933"/>
            <a:chOff x="0" y="0"/>
            <a:chExt cx="4274343" cy="553243"/>
          </a:xfrm>
        </p:grpSpPr>
        <p:sp>
          <p:nvSpPr>
            <p:cNvPr name="Freeform 42" id="42"/>
            <p:cNvSpPr/>
            <p:nvPr/>
          </p:nvSpPr>
          <p:spPr>
            <a:xfrm flipH="false" flipV="false" rot="0">
              <a:off x="0" y="0"/>
              <a:ext cx="4274343" cy="553243"/>
            </a:xfrm>
            <a:custGeom>
              <a:avLst/>
              <a:gdLst/>
              <a:ahLst/>
              <a:cxnLst/>
              <a:rect r="r" b="b" t="t" l="l"/>
              <a:pathLst>
                <a:path h="553243" w="4274343">
                  <a:moveTo>
                    <a:pt x="0" y="0"/>
                  </a:moveTo>
                  <a:lnTo>
                    <a:pt x="4274343" y="0"/>
                  </a:lnTo>
                  <a:lnTo>
                    <a:pt x="4274343" y="553243"/>
                  </a:lnTo>
                  <a:lnTo>
                    <a:pt x="0" y="553243"/>
                  </a:lnTo>
                  <a:close/>
                </a:path>
              </a:pathLst>
            </a:custGeom>
            <a:solidFill>
              <a:srgbClr val="000000">
                <a:alpha val="0"/>
              </a:srgbClr>
            </a:solidFill>
          </p:spPr>
        </p:sp>
        <p:sp>
          <p:nvSpPr>
            <p:cNvPr name="TextBox 43" id="43"/>
            <p:cNvSpPr txBox="true"/>
            <p:nvPr/>
          </p:nvSpPr>
          <p:spPr>
            <a:xfrm>
              <a:off x="0" y="-9525"/>
              <a:ext cx="4274343" cy="562768"/>
            </a:xfrm>
            <a:prstGeom prst="rect">
              <a:avLst/>
            </a:prstGeom>
          </p:spPr>
          <p:txBody>
            <a:bodyPr anchor="t" rtlCol="false" tIns="0" lIns="0" bIns="0" rIns="0"/>
            <a:lstStyle/>
            <a:p>
              <a:pPr algn="l">
                <a:lnSpc>
                  <a:spcPts val="3124"/>
                </a:lnSpc>
              </a:pPr>
              <a:r>
                <a:rPr lang="en-US" sz="2499" spc="-76">
                  <a:solidFill>
                    <a:srgbClr val="2B2E3C"/>
                  </a:solidFill>
                  <a:latin typeface="Bitter"/>
                  <a:ea typeface="Bitter"/>
                  <a:cs typeface="Bitter"/>
                  <a:sym typeface="Bitter"/>
                </a:rPr>
                <a:t>RMSprop</a:t>
              </a:r>
            </a:p>
          </p:txBody>
        </p:sp>
      </p:grpSp>
      <p:grpSp>
        <p:nvGrpSpPr>
          <p:cNvPr name="Group 44" id="44"/>
          <p:cNvGrpSpPr/>
          <p:nvPr/>
        </p:nvGrpSpPr>
        <p:grpSpPr>
          <a:xfrm rot="0">
            <a:off x="8589020" y="8006506"/>
            <a:ext cx="8801398" cy="467320"/>
            <a:chOff x="0" y="0"/>
            <a:chExt cx="11735197" cy="623093"/>
          </a:xfrm>
        </p:grpSpPr>
        <p:sp>
          <p:nvSpPr>
            <p:cNvPr name="Freeform 45" id="45"/>
            <p:cNvSpPr/>
            <p:nvPr/>
          </p:nvSpPr>
          <p:spPr>
            <a:xfrm flipH="false" flipV="false" rot="0">
              <a:off x="0" y="0"/>
              <a:ext cx="11735198" cy="623093"/>
            </a:xfrm>
            <a:custGeom>
              <a:avLst/>
              <a:gdLst/>
              <a:ahLst/>
              <a:cxnLst/>
              <a:rect r="r" b="b" t="t" l="l"/>
              <a:pathLst>
                <a:path h="623093" w="11735198">
                  <a:moveTo>
                    <a:pt x="0" y="0"/>
                  </a:moveTo>
                  <a:lnTo>
                    <a:pt x="11735198" y="0"/>
                  </a:lnTo>
                  <a:lnTo>
                    <a:pt x="11735198" y="623093"/>
                  </a:lnTo>
                  <a:lnTo>
                    <a:pt x="0" y="623093"/>
                  </a:lnTo>
                  <a:close/>
                </a:path>
              </a:pathLst>
            </a:custGeom>
            <a:solidFill>
              <a:srgbClr val="000000">
                <a:alpha val="0"/>
              </a:srgbClr>
            </a:solidFill>
          </p:spPr>
        </p:sp>
        <p:sp>
          <p:nvSpPr>
            <p:cNvPr name="TextBox 46" id="46"/>
            <p:cNvSpPr txBox="true"/>
            <p:nvPr/>
          </p:nvSpPr>
          <p:spPr>
            <a:xfrm>
              <a:off x="0" y="-76200"/>
              <a:ext cx="11735197" cy="699293"/>
            </a:xfrm>
            <a:prstGeom prst="rect">
              <a:avLst/>
            </a:prstGeom>
          </p:spPr>
          <p:txBody>
            <a:bodyPr anchor="t" rtlCol="false" tIns="0" lIns="0" bIns="0" rIns="0"/>
            <a:lstStyle/>
            <a:p>
              <a:pPr algn="l">
                <a:lnSpc>
                  <a:spcPts val="3186"/>
                </a:lnSpc>
              </a:pPr>
              <a:r>
                <a:rPr lang="en-US" sz="2000" spc="-40">
                  <a:solidFill>
                    <a:srgbClr val="2B2E3C"/>
                  </a:solidFill>
                  <a:latin typeface="Open Sans"/>
                  <a:ea typeface="Open Sans"/>
                  <a:cs typeface="Open Sans"/>
                  <a:sym typeface="Open Sans"/>
                </a:rPr>
                <a:t>Root Mean Square Propagation.</a:t>
              </a:r>
            </a:p>
          </p:txBody>
        </p:sp>
      </p:grpSp>
      <p:grpSp>
        <p:nvGrpSpPr>
          <p:cNvPr name="Group 47" id="47"/>
          <p:cNvGrpSpPr/>
          <p:nvPr/>
        </p:nvGrpSpPr>
        <p:grpSpPr>
          <a:xfrm rot="0">
            <a:off x="7755582" y="8705106"/>
            <a:ext cx="9634835" cy="877491"/>
            <a:chOff x="0" y="0"/>
            <a:chExt cx="12846447" cy="1169988"/>
          </a:xfrm>
        </p:grpSpPr>
        <p:sp>
          <p:nvSpPr>
            <p:cNvPr name="Freeform 48" id="48"/>
            <p:cNvSpPr/>
            <p:nvPr/>
          </p:nvSpPr>
          <p:spPr>
            <a:xfrm flipH="false" flipV="false" rot="0">
              <a:off x="0" y="0"/>
              <a:ext cx="12846447" cy="1169988"/>
            </a:xfrm>
            <a:custGeom>
              <a:avLst/>
              <a:gdLst/>
              <a:ahLst/>
              <a:cxnLst/>
              <a:rect r="r" b="b" t="t" l="l"/>
              <a:pathLst>
                <a:path h="1169988" w="12846447">
                  <a:moveTo>
                    <a:pt x="0" y="0"/>
                  </a:moveTo>
                  <a:lnTo>
                    <a:pt x="12846447" y="0"/>
                  </a:lnTo>
                  <a:lnTo>
                    <a:pt x="12846447" y="1169988"/>
                  </a:lnTo>
                  <a:lnTo>
                    <a:pt x="0" y="1169988"/>
                  </a:lnTo>
                  <a:close/>
                </a:path>
              </a:pathLst>
            </a:custGeom>
            <a:solidFill>
              <a:srgbClr val="000000">
                <a:alpha val="0"/>
              </a:srgbClr>
            </a:solidFill>
          </p:spPr>
        </p:sp>
        <p:sp>
          <p:nvSpPr>
            <p:cNvPr name="TextBox 49" id="49"/>
            <p:cNvSpPr txBox="true"/>
            <p:nvPr/>
          </p:nvSpPr>
          <p:spPr>
            <a:xfrm>
              <a:off x="0" y="-76200"/>
              <a:ext cx="12846447" cy="1246188"/>
            </a:xfrm>
            <a:prstGeom prst="rect">
              <a:avLst/>
            </a:prstGeom>
          </p:spPr>
          <p:txBody>
            <a:bodyPr anchor="t" rtlCol="false" tIns="0" lIns="0" bIns="0" rIns="0"/>
            <a:lstStyle/>
            <a:p>
              <a:pPr algn="l">
                <a:lnSpc>
                  <a:spcPts val="3186"/>
                </a:lnSpc>
              </a:pPr>
              <a:r>
                <a:rPr lang="en-US" sz="2000" spc="-40">
                  <a:solidFill>
                    <a:srgbClr val="2B2E3C"/>
                  </a:solidFill>
                  <a:latin typeface="Open Sans"/>
                  <a:ea typeface="Open Sans"/>
                  <a:cs typeface="Open Sans"/>
                  <a:sym typeface="Open Sans"/>
                </a:rPr>
                <a:t>Choosing the right optimizer can dramatically improve training. Adam is widely used. SGD is a classic choice. RMSprop offers its own advantages.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992238" y="936426"/>
            <a:ext cx="12094964" cy="900262"/>
            <a:chOff x="0" y="0"/>
            <a:chExt cx="16126619" cy="1200349"/>
          </a:xfrm>
        </p:grpSpPr>
        <p:sp>
          <p:nvSpPr>
            <p:cNvPr name="Freeform 7" id="7"/>
            <p:cNvSpPr/>
            <p:nvPr/>
          </p:nvSpPr>
          <p:spPr>
            <a:xfrm flipH="false" flipV="false" rot="0">
              <a:off x="0" y="0"/>
              <a:ext cx="16126619" cy="1200349"/>
            </a:xfrm>
            <a:custGeom>
              <a:avLst/>
              <a:gdLst/>
              <a:ahLst/>
              <a:cxnLst/>
              <a:rect r="r" b="b" t="t" l="l"/>
              <a:pathLst>
                <a:path h="1200349" w="16126619">
                  <a:moveTo>
                    <a:pt x="0" y="0"/>
                  </a:moveTo>
                  <a:lnTo>
                    <a:pt x="16126619" y="0"/>
                  </a:lnTo>
                  <a:lnTo>
                    <a:pt x="16126619" y="1200349"/>
                  </a:lnTo>
                  <a:lnTo>
                    <a:pt x="0" y="1200349"/>
                  </a:lnTo>
                  <a:close/>
                </a:path>
              </a:pathLst>
            </a:custGeom>
            <a:solidFill>
              <a:srgbClr val="000000">
                <a:alpha val="0"/>
              </a:srgbClr>
            </a:solidFill>
          </p:spPr>
        </p:sp>
        <p:sp>
          <p:nvSpPr>
            <p:cNvPr name="TextBox 8" id="8"/>
            <p:cNvSpPr txBox="true"/>
            <p:nvPr/>
          </p:nvSpPr>
          <p:spPr>
            <a:xfrm>
              <a:off x="0" y="-19050"/>
              <a:ext cx="16126619" cy="1219399"/>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Convolutional Neural Networks (CNNs)</a:t>
              </a:r>
            </a:p>
          </p:txBody>
        </p:sp>
      </p:grpSp>
      <p:grpSp>
        <p:nvGrpSpPr>
          <p:cNvPr name="Group 9" id="9"/>
          <p:cNvGrpSpPr/>
          <p:nvPr/>
        </p:nvGrpSpPr>
        <p:grpSpPr>
          <a:xfrm rot="0">
            <a:off x="2179736" y="4709221"/>
            <a:ext cx="3544044" cy="457199"/>
            <a:chOff x="0" y="0"/>
            <a:chExt cx="4725392" cy="609599"/>
          </a:xfrm>
        </p:grpSpPr>
        <p:sp>
          <p:nvSpPr>
            <p:cNvPr name="Freeform 10" id="10"/>
            <p:cNvSpPr/>
            <p:nvPr/>
          </p:nvSpPr>
          <p:spPr>
            <a:xfrm flipH="false" flipV="false" rot="0">
              <a:off x="0" y="0"/>
              <a:ext cx="4725392" cy="609599"/>
            </a:xfrm>
            <a:custGeom>
              <a:avLst/>
              <a:gdLst/>
              <a:ahLst/>
              <a:cxnLst/>
              <a:rect r="r" b="b" t="t" l="l"/>
              <a:pathLst>
                <a:path h="609599" w="4725392">
                  <a:moveTo>
                    <a:pt x="0" y="0"/>
                  </a:moveTo>
                  <a:lnTo>
                    <a:pt x="4725392" y="0"/>
                  </a:lnTo>
                  <a:lnTo>
                    <a:pt x="4725392" y="609599"/>
                  </a:lnTo>
                  <a:lnTo>
                    <a:pt x="0" y="609599"/>
                  </a:lnTo>
                  <a:close/>
                </a:path>
              </a:pathLst>
            </a:custGeom>
            <a:solidFill>
              <a:srgbClr val="000000">
                <a:alpha val="0"/>
              </a:srgbClr>
            </a:solidFill>
          </p:spPr>
        </p:sp>
        <p:sp>
          <p:nvSpPr>
            <p:cNvPr name="TextBox 11" id="11"/>
            <p:cNvSpPr txBox="true"/>
            <p:nvPr/>
          </p:nvSpPr>
          <p:spPr>
            <a:xfrm>
              <a:off x="0" y="-19050"/>
              <a:ext cx="4725392" cy="628649"/>
            </a:xfrm>
            <a:prstGeom prst="rect">
              <a:avLst/>
            </a:prstGeom>
          </p:spPr>
          <p:txBody>
            <a:bodyPr anchor="t" rtlCol="false" tIns="0" lIns="0" bIns="0" rIns="0"/>
            <a:lstStyle/>
            <a:p>
              <a:pPr algn="r">
                <a:lnSpc>
                  <a:spcPts val="3436"/>
                </a:lnSpc>
              </a:pPr>
              <a:r>
                <a:rPr lang="en-US" sz="2750" spc="-83">
                  <a:solidFill>
                    <a:srgbClr val="2B2E3C"/>
                  </a:solidFill>
                  <a:latin typeface="Bitter"/>
                  <a:ea typeface="Bitter"/>
                  <a:cs typeface="Bitter"/>
                  <a:sym typeface="Bitter"/>
                </a:rPr>
                <a:t>Convolutional Layers</a:t>
              </a:r>
            </a:p>
          </p:txBody>
        </p:sp>
      </p:grpSp>
      <p:grpSp>
        <p:nvGrpSpPr>
          <p:cNvPr name="Group 12" id="12"/>
          <p:cNvGrpSpPr/>
          <p:nvPr/>
        </p:nvGrpSpPr>
        <p:grpSpPr>
          <a:xfrm rot="0">
            <a:off x="992238" y="5272236"/>
            <a:ext cx="4731544" cy="517923"/>
            <a:chOff x="0" y="0"/>
            <a:chExt cx="6308725" cy="690564"/>
          </a:xfrm>
        </p:grpSpPr>
        <p:sp>
          <p:nvSpPr>
            <p:cNvPr name="Freeform 13" id="13"/>
            <p:cNvSpPr/>
            <p:nvPr/>
          </p:nvSpPr>
          <p:spPr>
            <a:xfrm flipH="false" flipV="false" rot="0">
              <a:off x="0" y="0"/>
              <a:ext cx="6308725" cy="690564"/>
            </a:xfrm>
            <a:custGeom>
              <a:avLst/>
              <a:gdLst/>
              <a:ahLst/>
              <a:cxnLst/>
              <a:rect r="r" b="b" t="t" l="l"/>
              <a:pathLst>
                <a:path h="690564" w="6308725">
                  <a:moveTo>
                    <a:pt x="0" y="0"/>
                  </a:moveTo>
                  <a:lnTo>
                    <a:pt x="6308725" y="0"/>
                  </a:lnTo>
                  <a:lnTo>
                    <a:pt x="6308725" y="690564"/>
                  </a:lnTo>
                  <a:lnTo>
                    <a:pt x="0" y="690564"/>
                  </a:lnTo>
                  <a:close/>
                </a:path>
              </a:pathLst>
            </a:custGeom>
            <a:solidFill>
              <a:srgbClr val="000000">
                <a:alpha val="0"/>
              </a:srgbClr>
            </a:solidFill>
          </p:spPr>
        </p:sp>
        <p:sp>
          <p:nvSpPr>
            <p:cNvPr name="TextBox 14" id="14"/>
            <p:cNvSpPr txBox="true"/>
            <p:nvPr/>
          </p:nvSpPr>
          <p:spPr>
            <a:xfrm>
              <a:off x="0" y="-85725"/>
              <a:ext cx="6308725" cy="776289"/>
            </a:xfrm>
            <a:prstGeom prst="rect">
              <a:avLst/>
            </a:prstGeom>
          </p:spPr>
          <p:txBody>
            <a:bodyPr anchor="t" rtlCol="false" tIns="0" lIns="0" bIns="0" rIns="0"/>
            <a:lstStyle/>
            <a:p>
              <a:pPr algn="r">
                <a:lnSpc>
                  <a:spcPts val="3561"/>
                </a:lnSpc>
              </a:pPr>
              <a:r>
                <a:rPr lang="en-US" sz="2187" spc="-44">
                  <a:solidFill>
                    <a:srgbClr val="2B2E3C"/>
                  </a:solidFill>
                  <a:latin typeface="Open Sans"/>
                  <a:ea typeface="Open Sans"/>
                  <a:cs typeface="Open Sans"/>
                  <a:sym typeface="Open Sans"/>
                </a:rPr>
                <a:t>Feature extraction.</a:t>
              </a:r>
            </a:p>
          </p:txBody>
        </p:sp>
      </p:grpSp>
      <p:grpSp>
        <p:nvGrpSpPr>
          <p:cNvPr name="Group 15" id="15"/>
          <p:cNvGrpSpPr/>
          <p:nvPr/>
        </p:nvGrpSpPr>
        <p:grpSpPr>
          <a:xfrm rot="0">
            <a:off x="6290816" y="2403722"/>
            <a:ext cx="5706219" cy="5706219"/>
            <a:chOff x="0" y="0"/>
            <a:chExt cx="7608292" cy="7608292"/>
          </a:xfrm>
        </p:grpSpPr>
        <p:sp>
          <p:nvSpPr>
            <p:cNvPr name="Freeform 16" id="16"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3"/>
              <a:stretch>
                <a:fillRect l="0" t="0" r="0" b="0"/>
              </a:stretch>
            </a:blipFill>
          </p:spPr>
        </p:sp>
      </p:grpSp>
      <p:grpSp>
        <p:nvGrpSpPr>
          <p:cNvPr name="Group 17" id="17"/>
          <p:cNvGrpSpPr/>
          <p:nvPr/>
        </p:nvGrpSpPr>
        <p:grpSpPr>
          <a:xfrm rot="0">
            <a:off x="6964264" y="4548187"/>
            <a:ext cx="424160" cy="630288"/>
            <a:chOff x="0" y="0"/>
            <a:chExt cx="565547" cy="840383"/>
          </a:xfrm>
        </p:grpSpPr>
        <p:sp>
          <p:nvSpPr>
            <p:cNvPr name="Freeform 18" id="18"/>
            <p:cNvSpPr/>
            <p:nvPr/>
          </p:nvSpPr>
          <p:spPr>
            <a:xfrm flipH="false" flipV="false" rot="0">
              <a:off x="0" y="0"/>
              <a:ext cx="565547" cy="840383"/>
            </a:xfrm>
            <a:custGeom>
              <a:avLst/>
              <a:gdLst/>
              <a:ahLst/>
              <a:cxnLst/>
              <a:rect r="r" b="b" t="t" l="l"/>
              <a:pathLst>
                <a:path h="840383" w="565547">
                  <a:moveTo>
                    <a:pt x="0" y="0"/>
                  </a:moveTo>
                  <a:lnTo>
                    <a:pt x="565547" y="0"/>
                  </a:lnTo>
                  <a:lnTo>
                    <a:pt x="565547" y="840383"/>
                  </a:lnTo>
                  <a:lnTo>
                    <a:pt x="0" y="840383"/>
                  </a:lnTo>
                  <a:close/>
                </a:path>
              </a:pathLst>
            </a:custGeom>
            <a:solidFill>
              <a:srgbClr val="000000">
                <a:alpha val="0"/>
              </a:srgbClr>
            </a:solidFill>
          </p:spPr>
        </p:sp>
        <p:sp>
          <p:nvSpPr>
            <p:cNvPr name="TextBox 19" id="19"/>
            <p:cNvSpPr txBox="true"/>
            <p:nvPr/>
          </p:nvSpPr>
          <p:spPr>
            <a:xfrm>
              <a:off x="0" y="-133350"/>
              <a:ext cx="565547" cy="973733"/>
            </a:xfrm>
            <a:prstGeom prst="rect">
              <a:avLst/>
            </a:prstGeom>
          </p:spPr>
          <p:txBody>
            <a:bodyPr anchor="t" rtlCol="false" tIns="0" lIns="0" bIns="0" rIns="0"/>
            <a:lstStyle/>
            <a:p>
              <a:pPr algn="l">
                <a:lnSpc>
                  <a:spcPts val="5312"/>
                </a:lnSpc>
              </a:pPr>
              <a:r>
                <a:rPr lang="en-US" sz="3311" spc="-67">
                  <a:solidFill>
                    <a:srgbClr val="2B2E3C"/>
                  </a:solidFill>
                  <a:latin typeface="Bitter"/>
                  <a:ea typeface="Bitter"/>
                  <a:cs typeface="Bitter"/>
                  <a:sym typeface="Bitter"/>
                </a:rPr>
                <a:t>1</a:t>
              </a:r>
            </a:p>
          </p:txBody>
        </p:sp>
      </p:grpSp>
      <p:grpSp>
        <p:nvGrpSpPr>
          <p:cNvPr name="Group 20" id="20"/>
          <p:cNvGrpSpPr/>
          <p:nvPr/>
        </p:nvGrpSpPr>
        <p:grpSpPr>
          <a:xfrm rot="0">
            <a:off x="12422237" y="3176290"/>
            <a:ext cx="3544044" cy="457199"/>
            <a:chOff x="0" y="0"/>
            <a:chExt cx="4725392" cy="609599"/>
          </a:xfrm>
        </p:grpSpPr>
        <p:sp>
          <p:nvSpPr>
            <p:cNvPr name="Freeform 21" id="21"/>
            <p:cNvSpPr/>
            <p:nvPr/>
          </p:nvSpPr>
          <p:spPr>
            <a:xfrm flipH="false" flipV="false" rot="0">
              <a:off x="0" y="0"/>
              <a:ext cx="4725392" cy="609599"/>
            </a:xfrm>
            <a:custGeom>
              <a:avLst/>
              <a:gdLst/>
              <a:ahLst/>
              <a:cxnLst/>
              <a:rect r="r" b="b" t="t" l="l"/>
              <a:pathLst>
                <a:path h="609599" w="4725392">
                  <a:moveTo>
                    <a:pt x="0" y="0"/>
                  </a:moveTo>
                  <a:lnTo>
                    <a:pt x="4725392" y="0"/>
                  </a:lnTo>
                  <a:lnTo>
                    <a:pt x="4725392" y="609599"/>
                  </a:lnTo>
                  <a:lnTo>
                    <a:pt x="0" y="609599"/>
                  </a:lnTo>
                  <a:close/>
                </a:path>
              </a:pathLst>
            </a:custGeom>
            <a:solidFill>
              <a:srgbClr val="000000">
                <a:alpha val="0"/>
              </a:srgbClr>
            </a:solidFill>
          </p:spPr>
        </p:sp>
        <p:sp>
          <p:nvSpPr>
            <p:cNvPr name="TextBox 22" id="22"/>
            <p:cNvSpPr txBox="true"/>
            <p:nvPr/>
          </p:nvSpPr>
          <p:spPr>
            <a:xfrm>
              <a:off x="0" y="-19050"/>
              <a:ext cx="4725392" cy="628649"/>
            </a:xfrm>
            <a:prstGeom prst="rect">
              <a:avLst/>
            </a:prstGeom>
          </p:spPr>
          <p:txBody>
            <a:bodyPr anchor="t" rtlCol="false" tIns="0" lIns="0" bIns="0" rIns="0"/>
            <a:lstStyle/>
            <a:p>
              <a:pPr algn="l">
                <a:lnSpc>
                  <a:spcPts val="3436"/>
                </a:lnSpc>
              </a:pPr>
              <a:r>
                <a:rPr lang="en-US" sz="2750" spc="-83">
                  <a:solidFill>
                    <a:srgbClr val="2B2E3C"/>
                  </a:solidFill>
                  <a:latin typeface="Bitter"/>
                  <a:ea typeface="Bitter"/>
                  <a:cs typeface="Bitter"/>
                  <a:sym typeface="Bitter"/>
                </a:rPr>
                <a:t>Pooling Layers</a:t>
              </a:r>
            </a:p>
          </p:txBody>
        </p:sp>
      </p:grpSp>
      <p:grpSp>
        <p:nvGrpSpPr>
          <p:cNvPr name="Group 23" id="23"/>
          <p:cNvGrpSpPr/>
          <p:nvPr/>
        </p:nvGrpSpPr>
        <p:grpSpPr>
          <a:xfrm rot="0">
            <a:off x="12422237" y="3739306"/>
            <a:ext cx="4873526" cy="517923"/>
            <a:chOff x="0" y="0"/>
            <a:chExt cx="6498035" cy="690564"/>
          </a:xfrm>
        </p:grpSpPr>
        <p:sp>
          <p:nvSpPr>
            <p:cNvPr name="Freeform 24" id="24"/>
            <p:cNvSpPr/>
            <p:nvPr/>
          </p:nvSpPr>
          <p:spPr>
            <a:xfrm flipH="false" flipV="false" rot="0">
              <a:off x="0" y="0"/>
              <a:ext cx="6498035" cy="690564"/>
            </a:xfrm>
            <a:custGeom>
              <a:avLst/>
              <a:gdLst/>
              <a:ahLst/>
              <a:cxnLst/>
              <a:rect r="r" b="b" t="t" l="l"/>
              <a:pathLst>
                <a:path h="690564" w="6498035">
                  <a:moveTo>
                    <a:pt x="0" y="0"/>
                  </a:moveTo>
                  <a:lnTo>
                    <a:pt x="6498035" y="0"/>
                  </a:lnTo>
                  <a:lnTo>
                    <a:pt x="6498035" y="690564"/>
                  </a:lnTo>
                  <a:lnTo>
                    <a:pt x="0" y="690564"/>
                  </a:lnTo>
                  <a:close/>
                </a:path>
              </a:pathLst>
            </a:custGeom>
            <a:solidFill>
              <a:srgbClr val="000000">
                <a:alpha val="0"/>
              </a:srgbClr>
            </a:solidFill>
          </p:spPr>
        </p:sp>
        <p:sp>
          <p:nvSpPr>
            <p:cNvPr name="TextBox 25" id="25"/>
            <p:cNvSpPr txBox="true"/>
            <p:nvPr/>
          </p:nvSpPr>
          <p:spPr>
            <a:xfrm>
              <a:off x="0" y="-85725"/>
              <a:ext cx="6498035"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Downsampling.</a:t>
              </a:r>
            </a:p>
          </p:txBody>
        </p:sp>
      </p:grpSp>
      <p:grpSp>
        <p:nvGrpSpPr>
          <p:cNvPr name="Group 26" id="26"/>
          <p:cNvGrpSpPr/>
          <p:nvPr/>
        </p:nvGrpSpPr>
        <p:grpSpPr>
          <a:xfrm rot="0">
            <a:off x="6290816" y="2403722"/>
            <a:ext cx="5706219" cy="5706219"/>
            <a:chOff x="0" y="0"/>
            <a:chExt cx="7608292" cy="7608292"/>
          </a:xfrm>
        </p:grpSpPr>
        <p:sp>
          <p:nvSpPr>
            <p:cNvPr name="Freeform 27" id="27"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4"/>
              <a:stretch>
                <a:fillRect l="0" t="0" r="0" b="0"/>
              </a:stretch>
            </a:blipFill>
          </p:spPr>
        </p:sp>
      </p:grpSp>
      <p:grpSp>
        <p:nvGrpSpPr>
          <p:cNvPr name="Group 28" id="28"/>
          <p:cNvGrpSpPr/>
          <p:nvPr/>
        </p:nvGrpSpPr>
        <p:grpSpPr>
          <a:xfrm rot="0">
            <a:off x="10212884" y="3359348"/>
            <a:ext cx="424160" cy="630288"/>
            <a:chOff x="0" y="0"/>
            <a:chExt cx="565547" cy="840383"/>
          </a:xfrm>
        </p:grpSpPr>
        <p:sp>
          <p:nvSpPr>
            <p:cNvPr name="Freeform 29" id="29"/>
            <p:cNvSpPr/>
            <p:nvPr/>
          </p:nvSpPr>
          <p:spPr>
            <a:xfrm flipH="false" flipV="false" rot="0">
              <a:off x="0" y="0"/>
              <a:ext cx="565547" cy="840383"/>
            </a:xfrm>
            <a:custGeom>
              <a:avLst/>
              <a:gdLst/>
              <a:ahLst/>
              <a:cxnLst/>
              <a:rect r="r" b="b" t="t" l="l"/>
              <a:pathLst>
                <a:path h="840383" w="565547">
                  <a:moveTo>
                    <a:pt x="0" y="0"/>
                  </a:moveTo>
                  <a:lnTo>
                    <a:pt x="565547" y="0"/>
                  </a:lnTo>
                  <a:lnTo>
                    <a:pt x="565547" y="840383"/>
                  </a:lnTo>
                  <a:lnTo>
                    <a:pt x="0" y="840383"/>
                  </a:lnTo>
                  <a:close/>
                </a:path>
              </a:pathLst>
            </a:custGeom>
            <a:solidFill>
              <a:srgbClr val="000000">
                <a:alpha val="0"/>
              </a:srgbClr>
            </a:solidFill>
          </p:spPr>
        </p:sp>
        <p:sp>
          <p:nvSpPr>
            <p:cNvPr name="TextBox 30" id="30"/>
            <p:cNvSpPr txBox="true"/>
            <p:nvPr/>
          </p:nvSpPr>
          <p:spPr>
            <a:xfrm>
              <a:off x="0" y="-133350"/>
              <a:ext cx="565547" cy="973733"/>
            </a:xfrm>
            <a:prstGeom prst="rect">
              <a:avLst/>
            </a:prstGeom>
          </p:spPr>
          <p:txBody>
            <a:bodyPr anchor="t" rtlCol="false" tIns="0" lIns="0" bIns="0" rIns="0"/>
            <a:lstStyle/>
            <a:p>
              <a:pPr algn="l">
                <a:lnSpc>
                  <a:spcPts val="5312"/>
                </a:lnSpc>
              </a:pPr>
              <a:r>
                <a:rPr lang="en-US" sz="3311" spc="-67">
                  <a:solidFill>
                    <a:srgbClr val="2B2E3C"/>
                  </a:solidFill>
                  <a:latin typeface="Bitter"/>
                  <a:ea typeface="Bitter"/>
                  <a:cs typeface="Bitter"/>
                  <a:sym typeface="Bitter"/>
                </a:rPr>
                <a:t>2</a:t>
              </a:r>
            </a:p>
          </p:txBody>
        </p:sp>
      </p:grpSp>
      <p:grpSp>
        <p:nvGrpSpPr>
          <p:cNvPr name="Group 31" id="31"/>
          <p:cNvGrpSpPr/>
          <p:nvPr/>
        </p:nvGrpSpPr>
        <p:grpSpPr>
          <a:xfrm rot="0">
            <a:off x="12422237" y="6242000"/>
            <a:ext cx="3544044" cy="457199"/>
            <a:chOff x="0" y="0"/>
            <a:chExt cx="4725392" cy="609599"/>
          </a:xfrm>
        </p:grpSpPr>
        <p:sp>
          <p:nvSpPr>
            <p:cNvPr name="Freeform 32" id="32"/>
            <p:cNvSpPr/>
            <p:nvPr/>
          </p:nvSpPr>
          <p:spPr>
            <a:xfrm flipH="false" flipV="false" rot="0">
              <a:off x="0" y="0"/>
              <a:ext cx="4725392" cy="609599"/>
            </a:xfrm>
            <a:custGeom>
              <a:avLst/>
              <a:gdLst/>
              <a:ahLst/>
              <a:cxnLst/>
              <a:rect r="r" b="b" t="t" l="l"/>
              <a:pathLst>
                <a:path h="609599" w="4725392">
                  <a:moveTo>
                    <a:pt x="0" y="0"/>
                  </a:moveTo>
                  <a:lnTo>
                    <a:pt x="4725392" y="0"/>
                  </a:lnTo>
                  <a:lnTo>
                    <a:pt x="4725392" y="609599"/>
                  </a:lnTo>
                  <a:lnTo>
                    <a:pt x="0" y="609599"/>
                  </a:lnTo>
                  <a:close/>
                </a:path>
              </a:pathLst>
            </a:custGeom>
            <a:solidFill>
              <a:srgbClr val="000000">
                <a:alpha val="0"/>
              </a:srgbClr>
            </a:solidFill>
          </p:spPr>
        </p:sp>
        <p:sp>
          <p:nvSpPr>
            <p:cNvPr name="TextBox 33" id="33"/>
            <p:cNvSpPr txBox="true"/>
            <p:nvPr/>
          </p:nvSpPr>
          <p:spPr>
            <a:xfrm>
              <a:off x="0" y="-19050"/>
              <a:ext cx="4725392" cy="628649"/>
            </a:xfrm>
            <a:prstGeom prst="rect">
              <a:avLst/>
            </a:prstGeom>
          </p:spPr>
          <p:txBody>
            <a:bodyPr anchor="t" rtlCol="false" tIns="0" lIns="0" bIns="0" rIns="0"/>
            <a:lstStyle/>
            <a:p>
              <a:pPr algn="l">
                <a:lnSpc>
                  <a:spcPts val="3436"/>
                </a:lnSpc>
              </a:pPr>
              <a:r>
                <a:rPr lang="en-US" sz="2750" spc="-83">
                  <a:solidFill>
                    <a:srgbClr val="2B2E3C"/>
                  </a:solidFill>
                  <a:latin typeface="Bitter"/>
                  <a:ea typeface="Bitter"/>
                  <a:cs typeface="Bitter"/>
                  <a:sym typeface="Bitter"/>
                </a:rPr>
                <a:t>Flattening</a:t>
              </a:r>
            </a:p>
          </p:txBody>
        </p:sp>
      </p:grpSp>
      <p:grpSp>
        <p:nvGrpSpPr>
          <p:cNvPr name="Group 34" id="34"/>
          <p:cNvGrpSpPr/>
          <p:nvPr/>
        </p:nvGrpSpPr>
        <p:grpSpPr>
          <a:xfrm rot="0">
            <a:off x="12422237" y="6805017"/>
            <a:ext cx="4873526" cy="517923"/>
            <a:chOff x="0" y="0"/>
            <a:chExt cx="6498035" cy="690564"/>
          </a:xfrm>
        </p:grpSpPr>
        <p:sp>
          <p:nvSpPr>
            <p:cNvPr name="Freeform 35" id="35"/>
            <p:cNvSpPr/>
            <p:nvPr/>
          </p:nvSpPr>
          <p:spPr>
            <a:xfrm flipH="false" flipV="false" rot="0">
              <a:off x="0" y="0"/>
              <a:ext cx="6498035" cy="690564"/>
            </a:xfrm>
            <a:custGeom>
              <a:avLst/>
              <a:gdLst/>
              <a:ahLst/>
              <a:cxnLst/>
              <a:rect r="r" b="b" t="t" l="l"/>
              <a:pathLst>
                <a:path h="690564" w="6498035">
                  <a:moveTo>
                    <a:pt x="0" y="0"/>
                  </a:moveTo>
                  <a:lnTo>
                    <a:pt x="6498035" y="0"/>
                  </a:lnTo>
                  <a:lnTo>
                    <a:pt x="6498035" y="690564"/>
                  </a:lnTo>
                  <a:lnTo>
                    <a:pt x="0" y="690564"/>
                  </a:lnTo>
                  <a:close/>
                </a:path>
              </a:pathLst>
            </a:custGeom>
            <a:solidFill>
              <a:srgbClr val="000000">
                <a:alpha val="0"/>
              </a:srgbClr>
            </a:solidFill>
          </p:spPr>
        </p:sp>
        <p:sp>
          <p:nvSpPr>
            <p:cNvPr name="TextBox 36" id="36"/>
            <p:cNvSpPr txBox="true"/>
            <p:nvPr/>
          </p:nvSpPr>
          <p:spPr>
            <a:xfrm>
              <a:off x="0" y="-85725"/>
              <a:ext cx="6498035"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Convert to dense input.</a:t>
              </a:r>
            </a:p>
          </p:txBody>
        </p:sp>
      </p:grpSp>
      <p:grpSp>
        <p:nvGrpSpPr>
          <p:cNvPr name="Group 37" id="37"/>
          <p:cNvGrpSpPr/>
          <p:nvPr/>
        </p:nvGrpSpPr>
        <p:grpSpPr>
          <a:xfrm rot="0">
            <a:off x="6290816" y="2403722"/>
            <a:ext cx="5706219" cy="5706219"/>
            <a:chOff x="0" y="0"/>
            <a:chExt cx="7608292" cy="7608292"/>
          </a:xfrm>
        </p:grpSpPr>
        <p:sp>
          <p:nvSpPr>
            <p:cNvPr name="Freeform 38" id="38"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5"/>
              <a:stretch>
                <a:fillRect l="0" t="0" r="0" b="0"/>
              </a:stretch>
            </a:blipFill>
          </p:spPr>
        </p:sp>
      </p:grpSp>
      <p:grpSp>
        <p:nvGrpSpPr>
          <p:cNvPr name="Group 39" id="39"/>
          <p:cNvGrpSpPr/>
          <p:nvPr/>
        </p:nvGrpSpPr>
        <p:grpSpPr>
          <a:xfrm rot="0">
            <a:off x="9618166" y="6767066"/>
            <a:ext cx="424160" cy="630288"/>
            <a:chOff x="0" y="0"/>
            <a:chExt cx="565547" cy="840383"/>
          </a:xfrm>
        </p:grpSpPr>
        <p:sp>
          <p:nvSpPr>
            <p:cNvPr name="Freeform 40" id="40"/>
            <p:cNvSpPr/>
            <p:nvPr/>
          </p:nvSpPr>
          <p:spPr>
            <a:xfrm flipH="false" flipV="false" rot="0">
              <a:off x="0" y="0"/>
              <a:ext cx="565547" cy="840383"/>
            </a:xfrm>
            <a:custGeom>
              <a:avLst/>
              <a:gdLst/>
              <a:ahLst/>
              <a:cxnLst/>
              <a:rect r="r" b="b" t="t" l="l"/>
              <a:pathLst>
                <a:path h="840383" w="565547">
                  <a:moveTo>
                    <a:pt x="0" y="0"/>
                  </a:moveTo>
                  <a:lnTo>
                    <a:pt x="565547" y="0"/>
                  </a:lnTo>
                  <a:lnTo>
                    <a:pt x="565547" y="840383"/>
                  </a:lnTo>
                  <a:lnTo>
                    <a:pt x="0" y="840383"/>
                  </a:lnTo>
                  <a:close/>
                </a:path>
              </a:pathLst>
            </a:custGeom>
            <a:solidFill>
              <a:srgbClr val="000000">
                <a:alpha val="0"/>
              </a:srgbClr>
            </a:solidFill>
          </p:spPr>
        </p:sp>
        <p:sp>
          <p:nvSpPr>
            <p:cNvPr name="TextBox 41" id="41"/>
            <p:cNvSpPr txBox="true"/>
            <p:nvPr/>
          </p:nvSpPr>
          <p:spPr>
            <a:xfrm>
              <a:off x="0" y="-133350"/>
              <a:ext cx="565547" cy="973733"/>
            </a:xfrm>
            <a:prstGeom prst="rect">
              <a:avLst/>
            </a:prstGeom>
          </p:spPr>
          <p:txBody>
            <a:bodyPr anchor="t" rtlCol="false" tIns="0" lIns="0" bIns="0" rIns="0"/>
            <a:lstStyle/>
            <a:p>
              <a:pPr algn="l">
                <a:lnSpc>
                  <a:spcPts val="5312"/>
                </a:lnSpc>
              </a:pPr>
              <a:r>
                <a:rPr lang="en-US" sz="3311" spc="-67">
                  <a:solidFill>
                    <a:srgbClr val="2B2E3C"/>
                  </a:solidFill>
                  <a:latin typeface="Bitter"/>
                  <a:ea typeface="Bitter"/>
                  <a:cs typeface="Bitter"/>
                  <a:sym typeface="Bitter"/>
                </a:rPr>
                <a:t>3</a:t>
              </a:r>
            </a:p>
          </p:txBody>
        </p:sp>
      </p:grpSp>
      <p:grpSp>
        <p:nvGrpSpPr>
          <p:cNvPr name="Group 42" id="42"/>
          <p:cNvGrpSpPr/>
          <p:nvPr/>
        </p:nvGrpSpPr>
        <p:grpSpPr>
          <a:xfrm rot="0">
            <a:off x="992238" y="8364587"/>
            <a:ext cx="16303526" cy="971550"/>
            <a:chOff x="0" y="0"/>
            <a:chExt cx="21738035" cy="1295400"/>
          </a:xfrm>
        </p:grpSpPr>
        <p:sp>
          <p:nvSpPr>
            <p:cNvPr name="Freeform 43" id="43"/>
            <p:cNvSpPr/>
            <p:nvPr/>
          </p:nvSpPr>
          <p:spPr>
            <a:xfrm flipH="false" flipV="false" rot="0">
              <a:off x="0" y="0"/>
              <a:ext cx="21738034" cy="1295400"/>
            </a:xfrm>
            <a:custGeom>
              <a:avLst/>
              <a:gdLst/>
              <a:ahLst/>
              <a:cxnLst/>
              <a:rect r="r" b="b" t="t" l="l"/>
              <a:pathLst>
                <a:path h="1295400" w="21738034">
                  <a:moveTo>
                    <a:pt x="0" y="0"/>
                  </a:moveTo>
                  <a:lnTo>
                    <a:pt x="21738034" y="0"/>
                  </a:lnTo>
                  <a:lnTo>
                    <a:pt x="21738034" y="1295400"/>
                  </a:lnTo>
                  <a:lnTo>
                    <a:pt x="0" y="1295400"/>
                  </a:lnTo>
                  <a:close/>
                </a:path>
              </a:pathLst>
            </a:custGeom>
            <a:solidFill>
              <a:srgbClr val="000000">
                <a:alpha val="0"/>
              </a:srgbClr>
            </a:solidFill>
          </p:spPr>
        </p:sp>
        <p:sp>
          <p:nvSpPr>
            <p:cNvPr name="TextBox 44" id="44"/>
            <p:cNvSpPr txBox="true"/>
            <p:nvPr/>
          </p:nvSpPr>
          <p:spPr>
            <a:xfrm>
              <a:off x="0" y="-85725"/>
              <a:ext cx="21738035"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CNNs are powerful for image processing. Convolutional layers extract features. Pooling layers reduce dimensionality. Flattening prepares data for final classification. Use CNNs for image classification.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992238" y="2085082"/>
            <a:ext cx="10907911" cy="900262"/>
            <a:chOff x="0" y="0"/>
            <a:chExt cx="14543881" cy="1200349"/>
          </a:xfrm>
        </p:grpSpPr>
        <p:sp>
          <p:nvSpPr>
            <p:cNvPr name="Freeform 7" id="7"/>
            <p:cNvSpPr/>
            <p:nvPr/>
          </p:nvSpPr>
          <p:spPr>
            <a:xfrm flipH="false" flipV="false" rot="0">
              <a:off x="0" y="0"/>
              <a:ext cx="14543881" cy="1200349"/>
            </a:xfrm>
            <a:custGeom>
              <a:avLst/>
              <a:gdLst/>
              <a:ahLst/>
              <a:cxnLst/>
              <a:rect r="r" b="b" t="t" l="l"/>
              <a:pathLst>
                <a:path h="1200349" w="14543881">
                  <a:moveTo>
                    <a:pt x="0" y="0"/>
                  </a:moveTo>
                  <a:lnTo>
                    <a:pt x="14543881" y="0"/>
                  </a:lnTo>
                  <a:lnTo>
                    <a:pt x="14543881" y="1200349"/>
                  </a:lnTo>
                  <a:lnTo>
                    <a:pt x="0" y="1200349"/>
                  </a:lnTo>
                  <a:close/>
                </a:path>
              </a:pathLst>
            </a:custGeom>
            <a:solidFill>
              <a:srgbClr val="000000">
                <a:alpha val="0"/>
              </a:srgbClr>
            </a:solidFill>
          </p:spPr>
        </p:sp>
        <p:sp>
          <p:nvSpPr>
            <p:cNvPr name="TextBox 8" id="8"/>
            <p:cNvSpPr txBox="true"/>
            <p:nvPr/>
          </p:nvSpPr>
          <p:spPr>
            <a:xfrm>
              <a:off x="0" y="-19050"/>
              <a:ext cx="14543881" cy="1219399"/>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Recurrent Neural Networks (RNNs)</a:t>
              </a:r>
            </a:p>
          </p:txBody>
        </p:sp>
      </p:grpSp>
      <p:sp>
        <p:nvSpPr>
          <p:cNvPr name="Freeform 9" id="9"/>
          <p:cNvSpPr/>
          <p:nvPr/>
        </p:nvSpPr>
        <p:spPr>
          <a:xfrm flipH="false" flipV="false" rot="0">
            <a:off x="987475" y="3547616"/>
            <a:ext cx="4085368" cy="1643158"/>
          </a:xfrm>
          <a:custGeom>
            <a:avLst/>
            <a:gdLst/>
            <a:ahLst/>
            <a:cxnLst/>
            <a:rect r="r" b="b" t="t" l="l"/>
            <a:pathLst>
              <a:path h="1643158" w="4085368">
                <a:moveTo>
                  <a:pt x="0" y="0"/>
                </a:moveTo>
                <a:lnTo>
                  <a:pt x="4085368" y="0"/>
                </a:lnTo>
                <a:lnTo>
                  <a:pt x="4085368" y="1643158"/>
                </a:lnTo>
                <a:lnTo>
                  <a:pt x="0" y="1643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2830711" y="4034284"/>
            <a:ext cx="398710" cy="584001"/>
            <a:chOff x="0" y="0"/>
            <a:chExt cx="531613" cy="778668"/>
          </a:xfrm>
        </p:grpSpPr>
        <p:sp>
          <p:nvSpPr>
            <p:cNvPr name="Freeform 11" id="11"/>
            <p:cNvSpPr/>
            <p:nvPr/>
          </p:nvSpPr>
          <p:spPr>
            <a:xfrm flipH="false" flipV="false" rot="0">
              <a:off x="0" y="0"/>
              <a:ext cx="531613" cy="778668"/>
            </a:xfrm>
            <a:custGeom>
              <a:avLst/>
              <a:gdLst/>
              <a:ahLst/>
              <a:cxnLst/>
              <a:rect r="r" b="b" t="t" l="l"/>
              <a:pathLst>
                <a:path h="778668" w="531613">
                  <a:moveTo>
                    <a:pt x="0" y="0"/>
                  </a:moveTo>
                  <a:lnTo>
                    <a:pt x="531613" y="0"/>
                  </a:lnTo>
                  <a:lnTo>
                    <a:pt x="531613" y="778668"/>
                  </a:lnTo>
                  <a:lnTo>
                    <a:pt x="0" y="778668"/>
                  </a:lnTo>
                  <a:close/>
                </a:path>
              </a:pathLst>
            </a:custGeom>
            <a:solidFill>
              <a:srgbClr val="000000">
                <a:alpha val="0"/>
              </a:srgbClr>
            </a:solidFill>
          </p:spPr>
        </p:sp>
        <p:sp>
          <p:nvSpPr>
            <p:cNvPr name="TextBox 12" id="12"/>
            <p:cNvSpPr txBox="true"/>
            <p:nvPr/>
          </p:nvSpPr>
          <p:spPr>
            <a:xfrm>
              <a:off x="0" y="-114300"/>
              <a:ext cx="531613" cy="892968"/>
            </a:xfrm>
            <a:prstGeom prst="rect">
              <a:avLst/>
            </a:prstGeom>
          </p:spPr>
          <p:txBody>
            <a:bodyPr anchor="t" rtlCol="false" tIns="0" lIns="0" bIns="0" rIns="0"/>
            <a:lstStyle/>
            <a:p>
              <a:pPr algn="ctr">
                <a:lnSpc>
                  <a:spcPts val="4999"/>
                </a:lnSpc>
              </a:pPr>
              <a:r>
                <a:rPr lang="en-US" sz="3125" spc="-83">
                  <a:solidFill>
                    <a:srgbClr val="2B2E3C"/>
                  </a:solidFill>
                  <a:latin typeface="Bitter"/>
                  <a:ea typeface="Bitter"/>
                  <a:cs typeface="Bitter"/>
                  <a:sym typeface="Bitter"/>
                </a:rPr>
                <a:t>1</a:t>
              </a:r>
            </a:p>
          </p:txBody>
        </p:sp>
      </p:grpSp>
      <p:grpSp>
        <p:nvGrpSpPr>
          <p:cNvPr name="Group 13" id="13"/>
          <p:cNvGrpSpPr/>
          <p:nvPr/>
        </p:nvGrpSpPr>
        <p:grpSpPr>
          <a:xfrm rot="0">
            <a:off x="5351561" y="3821609"/>
            <a:ext cx="2654796" cy="457199"/>
            <a:chOff x="0" y="0"/>
            <a:chExt cx="3539728" cy="609599"/>
          </a:xfrm>
        </p:grpSpPr>
        <p:sp>
          <p:nvSpPr>
            <p:cNvPr name="Freeform 14" id="14"/>
            <p:cNvSpPr/>
            <p:nvPr/>
          </p:nvSpPr>
          <p:spPr>
            <a:xfrm flipH="false" flipV="false" rot="0">
              <a:off x="0" y="0"/>
              <a:ext cx="3539728" cy="609599"/>
            </a:xfrm>
            <a:custGeom>
              <a:avLst/>
              <a:gdLst/>
              <a:ahLst/>
              <a:cxnLst/>
              <a:rect r="r" b="b" t="t" l="l"/>
              <a:pathLst>
                <a:path h="609599" w="3539728">
                  <a:moveTo>
                    <a:pt x="0" y="0"/>
                  </a:moveTo>
                  <a:lnTo>
                    <a:pt x="3539728" y="0"/>
                  </a:lnTo>
                  <a:lnTo>
                    <a:pt x="3539728" y="609599"/>
                  </a:lnTo>
                  <a:lnTo>
                    <a:pt x="0" y="609599"/>
                  </a:lnTo>
                  <a:close/>
                </a:path>
              </a:pathLst>
            </a:custGeom>
            <a:solidFill>
              <a:srgbClr val="000000">
                <a:alpha val="0"/>
              </a:srgbClr>
            </a:solidFill>
          </p:spPr>
        </p:sp>
        <p:sp>
          <p:nvSpPr>
            <p:cNvPr name="TextBox 15" id="15"/>
            <p:cNvSpPr txBox="true"/>
            <p:nvPr/>
          </p:nvSpPr>
          <p:spPr>
            <a:xfrm>
              <a:off x="0" y="-19050"/>
              <a:ext cx="3539728" cy="628649"/>
            </a:xfrm>
            <a:prstGeom prst="rect">
              <a:avLst/>
            </a:prstGeom>
          </p:spPr>
          <p:txBody>
            <a:bodyPr anchor="t" rtlCol="false" tIns="0" lIns="0" bIns="0" rIns="0"/>
            <a:lstStyle/>
            <a:p>
              <a:pPr algn="l">
                <a:lnSpc>
                  <a:spcPts val="3436"/>
                </a:lnSpc>
              </a:pPr>
              <a:r>
                <a:rPr lang="en-US" sz="2750" spc="-83">
                  <a:solidFill>
                    <a:srgbClr val="2B2E3C"/>
                  </a:solidFill>
                  <a:latin typeface="Bitter"/>
                  <a:ea typeface="Bitter"/>
                  <a:cs typeface="Bitter"/>
                  <a:sym typeface="Bitter"/>
                </a:rPr>
                <a:t>Recurrent Layers</a:t>
              </a:r>
            </a:p>
          </p:txBody>
        </p:sp>
      </p:grpSp>
      <p:grpSp>
        <p:nvGrpSpPr>
          <p:cNvPr name="Group 16" id="16"/>
          <p:cNvGrpSpPr/>
          <p:nvPr/>
        </p:nvGrpSpPr>
        <p:grpSpPr>
          <a:xfrm rot="0">
            <a:off x="5351561" y="4384625"/>
            <a:ext cx="2654796" cy="517923"/>
            <a:chOff x="0" y="0"/>
            <a:chExt cx="3539728" cy="690564"/>
          </a:xfrm>
        </p:grpSpPr>
        <p:sp>
          <p:nvSpPr>
            <p:cNvPr name="Freeform 17" id="17"/>
            <p:cNvSpPr/>
            <p:nvPr/>
          </p:nvSpPr>
          <p:spPr>
            <a:xfrm flipH="false" flipV="false" rot="0">
              <a:off x="0" y="0"/>
              <a:ext cx="3539728" cy="690564"/>
            </a:xfrm>
            <a:custGeom>
              <a:avLst/>
              <a:gdLst/>
              <a:ahLst/>
              <a:cxnLst/>
              <a:rect r="r" b="b" t="t" l="l"/>
              <a:pathLst>
                <a:path h="690564" w="3539728">
                  <a:moveTo>
                    <a:pt x="0" y="0"/>
                  </a:moveTo>
                  <a:lnTo>
                    <a:pt x="3539728" y="0"/>
                  </a:lnTo>
                  <a:lnTo>
                    <a:pt x="3539728" y="690564"/>
                  </a:lnTo>
                  <a:lnTo>
                    <a:pt x="0" y="690564"/>
                  </a:lnTo>
                  <a:close/>
                </a:path>
              </a:pathLst>
            </a:custGeom>
            <a:solidFill>
              <a:srgbClr val="000000">
                <a:alpha val="0"/>
              </a:srgbClr>
            </a:solidFill>
          </p:spPr>
        </p:sp>
        <p:sp>
          <p:nvSpPr>
            <p:cNvPr name="TextBox 18" id="18"/>
            <p:cNvSpPr txBox="true"/>
            <p:nvPr/>
          </p:nvSpPr>
          <p:spPr>
            <a:xfrm>
              <a:off x="0" y="-85725"/>
              <a:ext cx="3539728"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LSTM, GRU.</a:t>
              </a:r>
            </a:p>
          </p:txBody>
        </p:sp>
      </p:grpSp>
      <p:grpSp>
        <p:nvGrpSpPr>
          <p:cNvPr name="Group 19" id="19"/>
          <p:cNvGrpSpPr/>
          <p:nvPr/>
        </p:nvGrpSpPr>
        <p:grpSpPr>
          <a:xfrm rot="0">
            <a:off x="5209729" y="5167015"/>
            <a:ext cx="11944350" cy="19050"/>
            <a:chOff x="0" y="0"/>
            <a:chExt cx="15925800" cy="25400"/>
          </a:xfrm>
        </p:grpSpPr>
        <p:sp>
          <p:nvSpPr>
            <p:cNvPr name="Freeform 20" id="20"/>
            <p:cNvSpPr/>
            <p:nvPr/>
          </p:nvSpPr>
          <p:spPr>
            <a:xfrm flipH="false" flipV="false" rot="0">
              <a:off x="0" y="0"/>
              <a:ext cx="15925800" cy="25400"/>
            </a:xfrm>
            <a:custGeom>
              <a:avLst/>
              <a:gdLst/>
              <a:ahLst/>
              <a:cxnLst/>
              <a:rect r="r" b="b" t="t" l="l"/>
              <a:pathLst>
                <a:path h="25400" w="15925800">
                  <a:moveTo>
                    <a:pt x="0" y="12700"/>
                  </a:moveTo>
                  <a:cubicBezTo>
                    <a:pt x="0" y="5715"/>
                    <a:pt x="5715" y="0"/>
                    <a:pt x="12700" y="0"/>
                  </a:cubicBezTo>
                  <a:lnTo>
                    <a:pt x="15913100" y="0"/>
                  </a:lnTo>
                  <a:cubicBezTo>
                    <a:pt x="15920086" y="0"/>
                    <a:pt x="15925800" y="5715"/>
                    <a:pt x="15925800" y="12700"/>
                  </a:cubicBezTo>
                  <a:cubicBezTo>
                    <a:pt x="15925800" y="19685"/>
                    <a:pt x="15920086" y="25400"/>
                    <a:pt x="15913100" y="25400"/>
                  </a:cubicBezTo>
                  <a:lnTo>
                    <a:pt x="12700" y="25400"/>
                  </a:lnTo>
                  <a:cubicBezTo>
                    <a:pt x="5715" y="25400"/>
                    <a:pt x="0" y="19685"/>
                    <a:pt x="0" y="12700"/>
                  </a:cubicBezTo>
                  <a:close/>
                </a:path>
              </a:pathLst>
            </a:custGeom>
            <a:solidFill>
              <a:srgbClr val="E2C8B5"/>
            </a:solidFill>
          </p:spPr>
        </p:sp>
      </p:grpSp>
      <p:sp>
        <p:nvSpPr>
          <p:cNvPr name="Freeform 21" id="21"/>
          <p:cNvSpPr/>
          <p:nvPr/>
        </p:nvSpPr>
        <p:spPr>
          <a:xfrm flipH="false" flipV="false" rot="0">
            <a:off x="987475" y="5322986"/>
            <a:ext cx="8161306" cy="1643158"/>
          </a:xfrm>
          <a:custGeom>
            <a:avLst/>
            <a:gdLst/>
            <a:ahLst/>
            <a:cxnLst/>
            <a:rect r="r" b="b" t="t" l="l"/>
            <a:pathLst>
              <a:path h="1643158" w="8161306">
                <a:moveTo>
                  <a:pt x="0" y="0"/>
                </a:moveTo>
                <a:lnTo>
                  <a:pt x="8161306" y="0"/>
                </a:lnTo>
                <a:lnTo>
                  <a:pt x="8161306" y="1643158"/>
                </a:lnTo>
                <a:lnTo>
                  <a:pt x="0" y="16431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2" id="22"/>
          <p:cNvGrpSpPr/>
          <p:nvPr/>
        </p:nvGrpSpPr>
        <p:grpSpPr>
          <a:xfrm rot="0">
            <a:off x="4868764" y="5809655"/>
            <a:ext cx="398710" cy="584001"/>
            <a:chOff x="0" y="0"/>
            <a:chExt cx="531613" cy="778668"/>
          </a:xfrm>
        </p:grpSpPr>
        <p:sp>
          <p:nvSpPr>
            <p:cNvPr name="Freeform 23" id="23"/>
            <p:cNvSpPr/>
            <p:nvPr/>
          </p:nvSpPr>
          <p:spPr>
            <a:xfrm flipH="false" flipV="false" rot="0">
              <a:off x="0" y="0"/>
              <a:ext cx="531613" cy="778668"/>
            </a:xfrm>
            <a:custGeom>
              <a:avLst/>
              <a:gdLst/>
              <a:ahLst/>
              <a:cxnLst/>
              <a:rect r="r" b="b" t="t" l="l"/>
              <a:pathLst>
                <a:path h="778668" w="531613">
                  <a:moveTo>
                    <a:pt x="0" y="0"/>
                  </a:moveTo>
                  <a:lnTo>
                    <a:pt x="531613" y="0"/>
                  </a:lnTo>
                  <a:lnTo>
                    <a:pt x="531613" y="778668"/>
                  </a:lnTo>
                  <a:lnTo>
                    <a:pt x="0" y="778668"/>
                  </a:lnTo>
                  <a:close/>
                </a:path>
              </a:pathLst>
            </a:custGeom>
            <a:solidFill>
              <a:srgbClr val="000000">
                <a:alpha val="0"/>
              </a:srgbClr>
            </a:solidFill>
          </p:spPr>
        </p:sp>
        <p:sp>
          <p:nvSpPr>
            <p:cNvPr name="TextBox 24" id="24"/>
            <p:cNvSpPr txBox="true"/>
            <p:nvPr/>
          </p:nvSpPr>
          <p:spPr>
            <a:xfrm>
              <a:off x="0" y="-114300"/>
              <a:ext cx="531613" cy="892968"/>
            </a:xfrm>
            <a:prstGeom prst="rect">
              <a:avLst/>
            </a:prstGeom>
          </p:spPr>
          <p:txBody>
            <a:bodyPr anchor="t" rtlCol="false" tIns="0" lIns="0" bIns="0" rIns="0"/>
            <a:lstStyle/>
            <a:p>
              <a:pPr algn="ctr">
                <a:lnSpc>
                  <a:spcPts val="4999"/>
                </a:lnSpc>
              </a:pPr>
              <a:r>
                <a:rPr lang="en-US" sz="3125" spc="-83">
                  <a:solidFill>
                    <a:srgbClr val="2B2E3C"/>
                  </a:solidFill>
                  <a:latin typeface="Bitter"/>
                  <a:ea typeface="Bitter"/>
                  <a:cs typeface="Bitter"/>
                  <a:sym typeface="Bitter"/>
                </a:rPr>
                <a:t>2</a:t>
              </a:r>
            </a:p>
          </p:txBody>
        </p:sp>
      </p:grpSp>
      <p:grpSp>
        <p:nvGrpSpPr>
          <p:cNvPr name="Group 25" id="25"/>
          <p:cNvGrpSpPr/>
          <p:nvPr/>
        </p:nvGrpSpPr>
        <p:grpSpPr>
          <a:xfrm rot="0">
            <a:off x="9427518" y="5596979"/>
            <a:ext cx="2458939" cy="457199"/>
            <a:chOff x="0" y="0"/>
            <a:chExt cx="3278585" cy="609599"/>
          </a:xfrm>
        </p:grpSpPr>
        <p:sp>
          <p:nvSpPr>
            <p:cNvPr name="Freeform 26" id="26"/>
            <p:cNvSpPr/>
            <p:nvPr/>
          </p:nvSpPr>
          <p:spPr>
            <a:xfrm flipH="false" flipV="false" rot="0">
              <a:off x="0" y="0"/>
              <a:ext cx="3278585" cy="609599"/>
            </a:xfrm>
            <a:custGeom>
              <a:avLst/>
              <a:gdLst/>
              <a:ahLst/>
              <a:cxnLst/>
              <a:rect r="r" b="b" t="t" l="l"/>
              <a:pathLst>
                <a:path h="609599" w="3278585">
                  <a:moveTo>
                    <a:pt x="0" y="0"/>
                  </a:moveTo>
                  <a:lnTo>
                    <a:pt x="3278585" y="0"/>
                  </a:lnTo>
                  <a:lnTo>
                    <a:pt x="3278585" y="609599"/>
                  </a:lnTo>
                  <a:lnTo>
                    <a:pt x="0" y="609599"/>
                  </a:lnTo>
                  <a:close/>
                </a:path>
              </a:pathLst>
            </a:custGeom>
            <a:solidFill>
              <a:srgbClr val="000000">
                <a:alpha val="0"/>
              </a:srgbClr>
            </a:solidFill>
          </p:spPr>
        </p:sp>
        <p:sp>
          <p:nvSpPr>
            <p:cNvPr name="TextBox 27" id="27"/>
            <p:cNvSpPr txBox="true"/>
            <p:nvPr/>
          </p:nvSpPr>
          <p:spPr>
            <a:xfrm>
              <a:off x="0" y="-19050"/>
              <a:ext cx="3278585" cy="628649"/>
            </a:xfrm>
            <a:prstGeom prst="rect">
              <a:avLst/>
            </a:prstGeom>
          </p:spPr>
          <p:txBody>
            <a:bodyPr anchor="t" rtlCol="false" tIns="0" lIns="0" bIns="0" rIns="0"/>
            <a:lstStyle/>
            <a:p>
              <a:pPr algn="l">
                <a:lnSpc>
                  <a:spcPts val="3436"/>
                </a:lnSpc>
              </a:pPr>
              <a:r>
                <a:rPr lang="en-US" sz="2750" spc="-83">
                  <a:solidFill>
                    <a:srgbClr val="2B2E3C"/>
                  </a:solidFill>
                  <a:latin typeface="Bitter"/>
                  <a:ea typeface="Bitter"/>
                  <a:cs typeface="Bitter"/>
                  <a:sym typeface="Bitter"/>
                </a:rPr>
                <a:t>Sequential Data</a:t>
              </a:r>
            </a:p>
          </p:txBody>
        </p:sp>
      </p:grpSp>
      <p:grpSp>
        <p:nvGrpSpPr>
          <p:cNvPr name="Group 28" id="28"/>
          <p:cNvGrpSpPr/>
          <p:nvPr/>
        </p:nvGrpSpPr>
        <p:grpSpPr>
          <a:xfrm rot="0">
            <a:off x="9427518" y="6159996"/>
            <a:ext cx="2458939" cy="517923"/>
            <a:chOff x="0" y="0"/>
            <a:chExt cx="3278585" cy="690564"/>
          </a:xfrm>
        </p:grpSpPr>
        <p:sp>
          <p:nvSpPr>
            <p:cNvPr name="Freeform 29" id="29"/>
            <p:cNvSpPr/>
            <p:nvPr/>
          </p:nvSpPr>
          <p:spPr>
            <a:xfrm flipH="false" flipV="false" rot="0">
              <a:off x="0" y="0"/>
              <a:ext cx="3278585" cy="690564"/>
            </a:xfrm>
            <a:custGeom>
              <a:avLst/>
              <a:gdLst/>
              <a:ahLst/>
              <a:cxnLst/>
              <a:rect r="r" b="b" t="t" l="l"/>
              <a:pathLst>
                <a:path h="690564" w="3278585">
                  <a:moveTo>
                    <a:pt x="0" y="0"/>
                  </a:moveTo>
                  <a:lnTo>
                    <a:pt x="3278585" y="0"/>
                  </a:lnTo>
                  <a:lnTo>
                    <a:pt x="3278585" y="690564"/>
                  </a:lnTo>
                  <a:lnTo>
                    <a:pt x="0" y="690564"/>
                  </a:lnTo>
                  <a:close/>
                </a:path>
              </a:pathLst>
            </a:custGeom>
            <a:solidFill>
              <a:srgbClr val="000000">
                <a:alpha val="0"/>
              </a:srgbClr>
            </a:solidFill>
          </p:spPr>
        </p:sp>
        <p:sp>
          <p:nvSpPr>
            <p:cNvPr name="TextBox 30" id="30"/>
            <p:cNvSpPr txBox="true"/>
            <p:nvPr/>
          </p:nvSpPr>
          <p:spPr>
            <a:xfrm>
              <a:off x="0" y="-85725"/>
              <a:ext cx="3278585"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Text, Time Series.</a:t>
              </a:r>
            </a:p>
          </p:txBody>
        </p:sp>
      </p:grpSp>
      <p:grpSp>
        <p:nvGrpSpPr>
          <p:cNvPr name="Group 31" id="31"/>
          <p:cNvGrpSpPr/>
          <p:nvPr/>
        </p:nvGrpSpPr>
        <p:grpSpPr>
          <a:xfrm rot="0">
            <a:off x="992238" y="7216080"/>
            <a:ext cx="16303526" cy="971550"/>
            <a:chOff x="0" y="0"/>
            <a:chExt cx="21738035" cy="1295400"/>
          </a:xfrm>
        </p:grpSpPr>
        <p:sp>
          <p:nvSpPr>
            <p:cNvPr name="Freeform 32" id="32"/>
            <p:cNvSpPr/>
            <p:nvPr/>
          </p:nvSpPr>
          <p:spPr>
            <a:xfrm flipH="false" flipV="false" rot="0">
              <a:off x="0" y="0"/>
              <a:ext cx="21738034" cy="1295400"/>
            </a:xfrm>
            <a:custGeom>
              <a:avLst/>
              <a:gdLst/>
              <a:ahLst/>
              <a:cxnLst/>
              <a:rect r="r" b="b" t="t" l="l"/>
              <a:pathLst>
                <a:path h="1295400" w="21738034">
                  <a:moveTo>
                    <a:pt x="0" y="0"/>
                  </a:moveTo>
                  <a:lnTo>
                    <a:pt x="21738034" y="0"/>
                  </a:lnTo>
                  <a:lnTo>
                    <a:pt x="21738034" y="1295400"/>
                  </a:lnTo>
                  <a:lnTo>
                    <a:pt x="0" y="1295400"/>
                  </a:lnTo>
                  <a:close/>
                </a:path>
              </a:pathLst>
            </a:custGeom>
            <a:solidFill>
              <a:srgbClr val="000000">
                <a:alpha val="0"/>
              </a:srgbClr>
            </a:solidFill>
          </p:spPr>
        </p:sp>
        <p:sp>
          <p:nvSpPr>
            <p:cNvPr name="TextBox 33" id="33"/>
            <p:cNvSpPr txBox="true"/>
            <p:nvPr/>
          </p:nvSpPr>
          <p:spPr>
            <a:xfrm>
              <a:off x="0" y="-85725"/>
              <a:ext cx="21738035"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RNNs excel at processing sequential data. LSTM and GRU layers handle long-range dependencies. Apply RNNs to sentiment analysis using datasets such as IMDb.</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81" t="0" r="-83"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92238" y="3566368"/>
            <a:ext cx="7088237" cy="900262"/>
            <a:chOff x="0" y="0"/>
            <a:chExt cx="9450983" cy="1200349"/>
          </a:xfrm>
        </p:grpSpPr>
        <p:sp>
          <p:nvSpPr>
            <p:cNvPr name="Freeform 11" id="11"/>
            <p:cNvSpPr/>
            <p:nvPr/>
          </p:nvSpPr>
          <p:spPr>
            <a:xfrm flipH="false" flipV="false" rot="0">
              <a:off x="0" y="0"/>
              <a:ext cx="9450983" cy="1200349"/>
            </a:xfrm>
            <a:custGeom>
              <a:avLst/>
              <a:gdLst/>
              <a:ahLst/>
              <a:cxnLst/>
              <a:rect r="r" b="b" t="t" l="l"/>
              <a:pathLst>
                <a:path h="1200349" w="9450983">
                  <a:moveTo>
                    <a:pt x="0" y="0"/>
                  </a:moveTo>
                  <a:lnTo>
                    <a:pt x="9450983" y="0"/>
                  </a:lnTo>
                  <a:lnTo>
                    <a:pt x="9450983" y="1200349"/>
                  </a:lnTo>
                  <a:lnTo>
                    <a:pt x="0" y="1200349"/>
                  </a:lnTo>
                  <a:close/>
                </a:path>
              </a:pathLst>
            </a:custGeom>
            <a:solidFill>
              <a:srgbClr val="000000">
                <a:alpha val="0"/>
              </a:srgbClr>
            </a:solidFill>
          </p:spPr>
        </p:sp>
        <p:sp>
          <p:nvSpPr>
            <p:cNvPr name="TextBox 12" id="12"/>
            <p:cNvSpPr txBox="true"/>
            <p:nvPr/>
          </p:nvSpPr>
          <p:spPr>
            <a:xfrm>
              <a:off x="0" y="-19050"/>
              <a:ext cx="9450983" cy="1219399"/>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TensorFlow </a:t>
              </a:r>
            </a:p>
          </p:txBody>
        </p:sp>
      </p:grpSp>
      <p:grpSp>
        <p:nvGrpSpPr>
          <p:cNvPr name="Group 13" id="13"/>
          <p:cNvGrpSpPr/>
          <p:nvPr/>
        </p:nvGrpSpPr>
        <p:grpSpPr>
          <a:xfrm rot="0">
            <a:off x="992238" y="4827537"/>
            <a:ext cx="9445526" cy="1878806"/>
            <a:chOff x="0" y="0"/>
            <a:chExt cx="12594035" cy="2505074"/>
          </a:xfrm>
        </p:grpSpPr>
        <p:sp>
          <p:nvSpPr>
            <p:cNvPr name="Freeform 14" id="14"/>
            <p:cNvSpPr/>
            <p:nvPr/>
          </p:nvSpPr>
          <p:spPr>
            <a:xfrm flipH="false" flipV="false" rot="0">
              <a:off x="0" y="0"/>
              <a:ext cx="12594034" cy="2505074"/>
            </a:xfrm>
            <a:custGeom>
              <a:avLst/>
              <a:gdLst/>
              <a:ahLst/>
              <a:cxnLst/>
              <a:rect r="r" b="b" t="t" l="l"/>
              <a:pathLst>
                <a:path h="2505074" w="12594034">
                  <a:moveTo>
                    <a:pt x="0" y="0"/>
                  </a:moveTo>
                  <a:lnTo>
                    <a:pt x="12594034" y="0"/>
                  </a:lnTo>
                  <a:lnTo>
                    <a:pt x="12594034" y="2505074"/>
                  </a:lnTo>
                  <a:lnTo>
                    <a:pt x="0" y="2505074"/>
                  </a:lnTo>
                  <a:close/>
                </a:path>
              </a:pathLst>
            </a:custGeom>
            <a:solidFill>
              <a:srgbClr val="000000">
                <a:alpha val="0"/>
              </a:srgbClr>
            </a:solidFill>
          </p:spPr>
        </p:sp>
        <p:sp>
          <p:nvSpPr>
            <p:cNvPr name="TextBox 15" id="15"/>
            <p:cNvSpPr txBox="true"/>
            <p:nvPr/>
          </p:nvSpPr>
          <p:spPr>
            <a:xfrm>
              <a:off x="0" y="-85725"/>
              <a:ext cx="12594035" cy="259079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TensorFlow is a powerful open-source library for numerical computation and large-scale machine learning. Developed by Google, it provides a flexible architecture that allows you to deploy computation to one or more CPUs or GPUs in a desktop, server, or mobile device with a single API.</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0" y="0"/>
            <a:ext cx="18288000" cy="2906315"/>
            <a:chOff x="0" y="0"/>
            <a:chExt cx="24384000" cy="3875087"/>
          </a:xfrm>
        </p:grpSpPr>
        <p:sp>
          <p:nvSpPr>
            <p:cNvPr name="Freeform 7" id="7" descr="preencoded.png"/>
            <p:cNvSpPr/>
            <p:nvPr/>
          </p:nvSpPr>
          <p:spPr>
            <a:xfrm flipH="false" flipV="false" rot="0">
              <a:off x="0" y="0"/>
              <a:ext cx="24384000" cy="3875024"/>
            </a:xfrm>
            <a:custGeom>
              <a:avLst/>
              <a:gdLst/>
              <a:ahLst/>
              <a:cxnLst/>
              <a:rect r="r" b="b" t="t" l="l"/>
              <a:pathLst>
                <a:path h="3875024" w="24384000">
                  <a:moveTo>
                    <a:pt x="0" y="0"/>
                  </a:moveTo>
                  <a:lnTo>
                    <a:pt x="24384000" y="0"/>
                  </a:lnTo>
                  <a:lnTo>
                    <a:pt x="24384000" y="3875024"/>
                  </a:lnTo>
                  <a:lnTo>
                    <a:pt x="0" y="3875024"/>
                  </a:lnTo>
                  <a:lnTo>
                    <a:pt x="0" y="0"/>
                  </a:lnTo>
                  <a:close/>
                </a:path>
              </a:pathLst>
            </a:custGeom>
            <a:blipFill>
              <a:blip r:embed="rId3"/>
              <a:stretch>
                <a:fillRect l="-20" t="0" r="-20" b="-1"/>
              </a:stretch>
            </a:blipFill>
          </p:spPr>
        </p:sp>
      </p:grpSp>
      <p:grpSp>
        <p:nvGrpSpPr>
          <p:cNvPr name="Group 8" id="8"/>
          <p:cNvGrpSpPr/>
          <p:nvPr/>
        </p:nvGrpSpPr>
        <p:grpSpPr>
          <a:xfrm rot="0">
            <a:off x="813644" y="3532584"/>
            <a:ext cx="10093821" cy="740867"/>
            <a:chOff x="0" y="0"/>
            <a:chExt cx="13458428" cy="987822"/>
          </a:xfrm>
        </p:grpSpPr>
        <p:sp>
          <p:nvSpPr>
            <p:cNvPr name="Freeform 9" id="9"/>
            <p:cNvSpPr/>
            <p:nvPr/>
          </p:nvSpPr>
          <p:spPr>
            <a:xfrm flipH="false" flipV="false" rot="0">
              <a:off x="0" y="0"/>
              <a:ext cx="13458428" cy="987822"/>
            </a:xfrm>
            <a:custGeom>
              <a:avLst/>
              <a:gdLst/>
              <a:ahLst/>
              <a:cxnLst/>
              <a:rect r="r" b="b" t="t" l="l"/>
              <a:pathLst>
                <a:path h="987822" w="13458428">
                  <a:moveTo>
                    <a:pt x="0" y="0"/>
                  </a:moveTo>
                  <a:lnTo>
                    <a:pt x="13458428" y="0"/>
                  </a:lnTo>
                  <a:lnTo>
                    <a:pt x="13458428" y="987822"/>
                  </a:lnTo>
                  <a:lnTo>
                    <a:pt x="0" y="987822"/>
                  </a:lnTo>
                  <a:close/>
                </a:path>
              </a:pathLst>
            </a:custGeom>
            <a:solidFill>
              <a:srgbClr val="000000">
                <a:alpha val="0"/>
              </a:srgbClr>
            </a:solidFill>
          </p:spPr>
        </p:sp>
        <p:sp>
          <p:nvSpPr>
            <p:cNvPr name="TextBox 10" id="10"/>
            <p:cNvSpPr txBox="true"/>
            <p:nvPr/>
          </p:nvSpPr>
          <p:spPr>
            <a:xfrm>
              <a:off x="0" y="-19050"/>
              <a:ext cx="13458428" cy="1006872"/>
            </a:xfrm>
            <a:prstGeom prst="rect">
              <a:avLst/>
            </a:prstGeom>
          </p:spPr>
          <p:txBody>
            <a:bodyPr anchor="t" rtlCol="false" tIns="0" lIns="0" bIns="0" rIns="0"/>
            <a:lstStyle/>
            <a:p>
              <a:pPr algn="l">
                <a:lnSpc>
                  <a:spcPts val="5687"/>
                </a:lnSpc>
              </a:pPr>
              <a:r>
                <a:rPr lang="en-US" sz="4562" spc="-137">
                  <a:solidFill>
                    <a:srgbClr val="2C3F42"/>
                  </a:solidFill>
                  <a:latin typeface="Bitter"/>
                  <a:ea typeface="Bitter"/>
                  <a:cs typeface="Bitter"/>
                  <a:sym typeface="Bitter"/>
                </a:rPr>
                <a:t>TensorFlow Datasets and Data Pipelines</a:t>
              </a:r>
            </a:p>
          </p:txBody>
        </p:sp>
      </p:grpSp>
      <p:grpSp>
        <p:nvGrpSpPr>
          <p:cNvPr name="Group 11" id="11"/>
          <p:cNvGrpSpPr/>
          <p:nvPr/>
        </p:nvGrpSpPr>
        <p:grpSpPr>
          <a:xfrm rot="0">
            <a:off x="813644" y="4662785"/>
            <a:ext cx="581174" cy="581174"/>
            <a:chOff x="0" y="0"/>
            <a:chExt cx="774899" cy="774899"/>
          </a:xfrm>
        </p:grpSpPr>
        <p:sp>
          <p:nvSpPr>
            <p:cNvPr name="Freeform 12" id="12" descr="preencoded.png"/>
            <p:cNvSpPr/>
            <p:nvPr/>
          </p:nvSpPr>
          <p:spPr>
            <a:xfrm flipH="false" flipV="false" rot="0">
              <a:off x="0" y="0"/>
              <a:ext cx="774954" cy="774954"/>
            </a:xfrm>
            <a:custGeom>
              <a:avLst/>
              <a:gdLst/>
              <a:ahLst/>
              <a:cxnLst/>
              <a:rect r="r" b="b" t="t" l="l"/>
              <a:pathLst>
                <a:path h="774954" w="774954">
                  <a:moveTo>
                    <a:pt x="0" y="0"/>
                  </a:moveTo>
                  <a:lnTo>
                    <a:pt x="774954" y="0"/>
                  </a:lnTo>
                  <a:lnTo>
                    <a:pt x="774954" y="774954"/>
                  </a:lnTo>
                  <a:lnTo>
                    <a:pt x="0" y="774954"/>
                  </a:lnTo>
                  <a:lnTo>
                    <a:pt x="0" y="0"/>
                  </a:lnTo>
                  <a:close/>
                </a:path>
              </a:pathLst>
            </a:custGeom>
            <a:blipFill>
              <a:blip r:embed="rId4"/>
              <a:stretch>
                <a:fillRect l="0" t="0" r="7" b="7"/>
              </a:stretch>
            </a:blipFill>
          </p:spPr>
        </p:sp>
      </p:grpSp>
      <p:grpSp>
        <p:nvGrpSpPr>
          <p:cNvPr name="Group 13" id="13"/>
          <p:cNvGrpSpPr/>
          <p:nvPr/>
        </p:nvGrpSpPr>
        <p:grpSpPr>
          <a:xfrm rot="0">
            <a:off x="1627286" y="4615011"/>
            <a:ext cx="2906316" cy="370434"/>
            <a:chOff x="0" y="0"/>
            <a:chExt cx="3875088" cy="493912"/>
          </a:xfrm>
        </p:grpSpPr>
        <p:sp>
          <p:nvSpPr>
            <p:cNvPr name="Freeform 14" id="14"/>
            <p:cNvSpPr/>
            <p:nvPr/>
          </p:nvSpPr>
          <p:spPr>
            <a:xfrm flipH="false" flipV="false" rot="0">
              <a:off x="0" y="0"/>
              <a:ext cx="3875088" cy="493912"/>
            </a:xfrm>
            <a:custGeom>
              <a:avLst/>
              <a:gdLst/>
              <a:ahLst/>
              <a:cxnLst/>
              <a:rect r="r" b="b" t="t" l="l"/>
              <a:pathLst>
                <a:path h="493912" w="3875088">
                  <a:moveTo>
                    <a:pt x="0" y="0"/>
                  </a:moveTo>
                  <a:lnTo>
                    <a:pt x="3875088" y="0"/>
                  </a:lnTo>
                  <a:lnTo>
                    <a:pt x="3875088" y="493912"/>
                  </a:lnTo>
                  <a:lnTo>
                    <a:pt x="0" y="493912"/>
                  </a:lnTo>
                  <a:close/>
                </a:path>
              </a:pathLst>
            </a:custGeom>
            <a:solidFill>
              <a:srgbClr val="000000">
                <a:alpha val="0"/>
              </a:srgbClr>
            </a:solidFill>
          </p:spPr>
        </p:sp>
        <p:sp>
          <p:nvSpPr>
            <p:cNvPr name="TextBox 15" id="15"/>
            <p:cNvSpPr txBox="true"/>
            <p:nvPr/>
          </p:nvSpPr>
          <p:spPr>
            <a:xfrm>
              <a:off x="0" y="-9525"/>
              <a:ext cx="3875088" cy="503437"/>
            </a:xfrm>
            <a:prstGeom prst="rect">
              <a:avLst/>
            </a:prstGeom>
          </p:spPr>
          <p:txBody>
            <a:bodyPr anchor="t" rtlCol="false" tIns="0" lIns="0" bIns="0" rIns="0"/>
            <a:lstStyle/>
            <a:p>
              <a:pPr algn="l">
                <a:lnSpc>
                  <a:spcPts val="2812"/>
                </a:lnSpc>
              </a:pPr>
              <a:r>
                <a:rPr lang="en-US" sz="2249" spc="-68">
                  <a:solidFill>
                    <a:srgbClr val="2B2E3C"/>
                  </a:solidFill>
                  <a:latin typeface="Bitter"/>
                  <a:ea typeface="Bitter"/>
                  <a:cs typeface="Bitter"/>
                  <a:sym typeface="Bitter"/>
                </a:rPr>
                <a:t>TF Datasets</a:t>
              </a:r>
            </a:p>
          </p:txBody>
        </p:sp>
      </p:grpSp>
      <p:grpSp>
        <p:nvGrpSpPr>
          <p:cNvPr name="Group 16" id="16"/>
          <p:cNvGrpSpPr/>
          <p:nvPr/>
        </p:nvGrpSpPr>
        <p:grpSpPr>
          <a:xfrm rot="0">
            <a:off x="1627286" y="5082034"/>
            <a:ext cx="15847070" cy="414783"/>
            <a:chOff x="0" y="0"/>
            <a:chExt cx="21129427" cy="553045"/>
          </a:xfrm>
        </p:grpSpPr>
        <p:sp>
          <p:nvSpPr>
            <p:cNvPr name="Freeform 17" id="17"/>
            <p:cNvSpPr/>
            <p:nvPr/>
          </p:nvSpPr>
          <p:spPr>
            <a:xfrm flipH="false" flipV="false" rot="0">
              <a:off x="0" y="0"/>
              <a:ext cx="21129427" cy="553045"/>
            </a:xfrm>
            <a:custGeom>
              <a:avLst/>
              <a:gdLst/>
              <a:ahLst/>
              <a:cxnLst/>
              <a:rect r="r" b="b" t="t" l="l"/>
              <a:pathLst>
                <a:path h="553045" w="21129427">
                  <a:moveTo>
                    <a:pt x="0" y="0"/>
                  </a:moveTo>
                  <a:lnTo>
                    <a:pt x="21129427" y="0"/>
                  </a:lnTo>
                  <a:lnTo>
                    <a:pt x="21129427" y="553045"/>
                  </a:lnTo>
                  <a:lnTo>
                    <a:pt x="0" y="553045"/>
                  </a:lnTo>
                  <a:close/>
                </a:path>
              </a:pathLst>
            </a:custGeom>
            <a:solidFill>
              <a:srgbClr val="000000">
                <a:alpha val="0"/>
              </a:srgbClr>
            </a:solidFill>
          </p:spPr>
        </p:sp>
        <p:sp>
          <p:nvSpPr>
            <p:cNvPr name="TextBox 18" id="18"/>
            <p:cNvSpPr txBox="true"/>
            <p:nvPr/>
          </p:nvSpPr>
          <p:spPr>
            <a:xfrm>
              <a:off x="0" y="-57150"/>
              <a:ext cx="21129427" cy="610195"/>
            </a:xfrm>
            <a:prstGeom prst="rect">
              <a:avLst/>
            </a:prstGeom>
          </p:spPr>
          <p:txBody>
            <a:bodyPr anchor="t" rtlCol="false" tIns="0" lIns="0" bIns="0" rIns="0"/>
            <a:lstStyle/>
            <a:p>
              <a:pPr algn="l">
                <a:lnSpc>
                  <a:spcPts val="2874"/>
                </a:lnSpc>
              </a:pPr>
              <a:r>
                <a:rPr lang="en-US" sz="1812" spc="-36">
                  <a:solidFill>
                    <a:srgbClr val="2B2E3C"/>
                  </a:solidFill>
                  <a:latin typeface="Open Sans"/>
                  <a:ea typeface="Open Sans"/>
                  <a:cs typeface="Open Sans"/>
                  <a:sym typeface="Open Sans"/>
                </a:rPr>
                <a:t>Pre-built datasets.</a:t>
              </a:r>
            </a:p>
          </p:txBody>
        </p:sp>
      </p:grpSp>
      <p:grpSp>
        <p:nvGrpSpPr>
          <p:cNvPr name="Group 19" id="19"/>
          <p:cNvGrpSpPr/>
          <p:nvPr/>
        </p:nvGrpSpPr>
        <p:grpSpPr>
          <a:xfrm rot="0">
            <a:off x="813644" y="6234856"/>
            <a:ext cx="581174" cy="581174"/>
            <a:chOff x="0" y="0"/>
            <a:chExt cx="774899" cy="774899"/>
          </a:xfrm>
        </p:grpSpPr>
        <p:sp>
          <p:nvSpPr>
            <p:cNvPr name="Freeform 20" id="20" descr="preencoded.png"/>
            <p:cNvSpPr/>
            <p:nvPr/>
          </p:nvSpPr>
          <p:spPr>
            <a:xfrm flipH="false" flipV="false" rot="0">
              <a:off x="0" y="0"/>
              <a:ext cx="774954" cy="774954"/>
            </a:xfrm>
            <a:custGeom>
              <a:avLst/>
              <a:gdLst/>
              <a:ahLst/>
              <a:cxnLst/>
              <a:rect r="r" b="b" t="t" l="l"/>
              <a:pathLst>
                <a:path h="774954" w="774954">
                  <a:moveTo>
                    <a:pt x="0" y="0"/>
                  </a:moveTo>
                  <a:lnTo>
                    <a:pt x="774954" y="0"/>
                  </a:lnTo>
                  <a:lnTo>
                    <a:pt x="774954" y="774954"/>
                  </a:lnTo>
                  <a:lnTo>
                    <a:pt x="0" y="774954"/>
                  </a:lnTo>
                  <a:lnTo>
                    <a:pt x="0" y="0"/>
                  </a:lnTo>
                  <a:close/>
                </a:path>
              </a:pathLst>
            </a:custGeom>
            <a:blipFill>
              <a:blip r:embed="rId5"/>
              <a:stretch>
                <a:fillRect l="0" t="0" r="7" b="7"/>
              </a:stretch>
            </a:blipFill>
          </p:spPr>
        </p:sp>
      </p:grpSp>
      <p:grpSp>
        <p:nvGrpSpPr>
          <p:cNvPr name="Group 21" id="21"/>
          <p:cNvGrpSpPr/>
          <p:nvPr/>
        </p:nvGrpSpPr>
        <p:grpSpPr>
          <a:xfrm rot="0">
            <a:off x="1627286" y="6187082"/>
            <a:ext cx="2906316" cy="370434"/>
            <a:chOff x="0" y="0"/>
            <a:chExt cx="3875088" cy="493912"/>
          </a:xfrm>
        </p:grpSpPr>
        <p:sp>
          <p:nvSpPr>
            <p:cNvPr name="Freeform 22" id="22"/>
            <p:cNvSpPr/>
            <p:nvPr/>
          </p:nvSpPr>
          <p:spPr>
            <a:xfrm flipH="false" flipV="false" rot="0">
              <a:off x="0" y="0"/>
              <a:ext cx="3875088" cy="493912"/>
            </a:xfrm>
            <a:custGeom>
              <a:avLst/>
              <a:gdLst/>
              <a:ahLst/>
              <a:cxnLst/>
              <a:rect r="r" b="b" t="t" l="l"/>
              <a:pathLst>
                <a:path h="493912" w="3875088">
                  <a:moveTo>
                    <a:pt x="0" y="0"/>
                  </a:moveTo>
                  <a:lnTo>
                    <a:pt x="3875088" y="0"/>
                  </a:lnTo>
                  <a:lnTo>
                    <a:pt x="3875088" y="493912"/>
                  </a:lnTo>
                  <a:lnTo>
                    <a:pt x="0" y="493912"/>
                  </a:lnTo>
                  <a:close/>
                </a:path>
              </a:pathLst>
            </a:custGeom>
            <a:solidFill>
              <a:srgbClr val="000000">
                <a:alpha val="0"/>
              </a:srgbClr>
            </a:solidFill>
          </p:spPr>
        </p:sp>
        <p:sp>
          <p:nvSpPr>
            <p:cNvPr name="TextBox 23" id="23"/>
            <p:cNvSpPr txBox="true"/>
            <p:nvPr/>
          </p:nvSpPr>
          <p:spPr>
            <a:xfrm>
              <a:off x="0" y="-9525"/>
              <a:ext cx="3875088" cy="503437"/>
            </a:xfrm>
            <a:prstGeom prst="rect">
              <a:avLst/>
            </a:prstGeom>
          </p:spPr>
          <p:txBody>
            <a:bodyPr anchor="t" rtlCol="false" tIns="0" lIns="0" bIns="0" rIns="0"/>
            <a:lstStyle/>
            <a:p>
              <a:pPr algn="l">
                <a:lnSpc>
                  <a:spcPts val="2812"/>
                </a:lnSpc>
              </a:pPr>
              <a:r>
                <a:rPr lang="en-US" sz="2249" spc="-68">
                  <a:solidFill>
                    <a:srgbClr val="2B2E3C"/>
                  </a:solidFill>
                  <a:latin typeface="Bitter"/>
                  <a:ea typeface="Bitter"/>
                  <a:cs typeface="Bitter"/>
                  <a:sym typeface="Bitter"/>
                </a:rPr>
                <a:t>tf.data API</a:t>
              </a:r>
            </a:p>
          </p:txBody>
        </p:sp>
      </p:grpSp>
      <p:grpSp>
        <p:nvGrpSpPr>
          <p:cNvPr name="Group 24" id="24"/>
          <p:cNvGrpSpPr/>
          <p:nvPr/>
        </p:nvGrpSpPr>
        <p:grpSpPr>
          <a:xfrm rot="0">
            <a:off x="1627286" y="6654105"/>
            <a:ext cx="15847070" cy="414783"/>
            <a:chOff x="0" y="0"/>
            <a:chExt cx="21129427" cy="553045"/>
          </a:xfrm>
        </p:grpSpPr>
        <p:sp>
          <p:nvSpPr>
            <p:cNvPr name="Freeform 25" id="25"/>
            <p:cNvSpPr/>
            <p:nvPr/>
          </p:nvSpPr>
          <p:spPr>
            <a:xfrm flipH="false" flipV="false" rot="0">
              <a:off x="0" y="0"/>
              <a:ext cx="21129427" cy="553045"/>
            </a:xfrm>
            <a:custGeom>
              <a:avLst/>
              <a:gdLst/>
              <a:ahLst/>
              <a:cxnLst/>
              <a:rect r="r" b="b" t="t" l="l"/>
              <a:pathLst>
                <a:path h="553045" w="21129427">
                  <a:moveTo>
                    <a:pt x="0" y="0"/>
                  </a:moveTo>
                  <a:lnTo>
                    <a:pt x="21129427" y="0"/>
                  </a:lnTo>
                  <a:lnTo>
                    <a:pt x="21129427" y="553045"/>
                  </a:lnTo>
                  <a:lnTo>
                    <a:pt x="0" y="553045"/>
                  </a:lnTo>
                  <a:close/>
                </a:path>
              </a:pathLst>
            </a:custGeom>
            <a:solidFill>
              <a:srgbClr val="000000">
                <a:alpha val="0"/>
              </a:srgbClr>
            </a:solidFill>
          </p:spPr>
        </p:sp>
        <p:sp>
          <p:nvSpPr>
            <p:cNvPr name="TextBox 26" id="26"/>
            <p:cNvSpPr txBox="true"/>
            <p:nvPr/>
          </p:nvSpPr>
          <p:spPr>
            <a:xfrm>
              <a:off x="0" y="-57150"/>
              <a:ext cx="21129427" cy="610195"/>
            </a:xfrm>
            <a:prstGeom prst="rect">
              <a:avLst/>
            </a:prstGeom>
          </p:spPr>
          <p:txBody>
            <a:bodyPr anchor="t" rtlCol="false" tIns="0" lIns="0" bIns="0" rIns="0"/>
            <a:lstStyle/>
            <a:p>
              <a:pPr algn="l">
                <a:lnSpc>
                  <a:spcPts val="2874"/>
                </a:lnSpc>
              </a:pPr>
              <a:r>
                <a:rPr lang="en-US" sz="1812" spc="-36">
                  <a:solidFill>
                    <a:srgbClr val="2B2E3C"/>
                  </a:solidFill>
                  <a:latin typeface="Open Sans"/>
                  <a:ea typeface="Open Sans"/>
                  <a:cs typeface="Open Sans"/>
                  <a:sym typeface="Open Sans"/>
                </a:rPr>
                <a:t>Efficient data loading.</a:t>
              </a:r>
            </a:p>
          </p:txBody>
        </p:sp>
      </p:grpSp>
      <p:grpSp>
        <p:nvGrpSpPr>
          <p:cNvPr name="Group 27" id="27"/>
          <p:cNvGrpSpPr/>
          <p:nvPr/>
        </p:nvGrpSpPr>
        <p:grpSpPr>
          <a:xfrm rot="0">
            <a:off x="813644" y="7806929"/>
            <a:ext cx="581174" cy="581174"/>
            <a:chOff x="0" y="0"/>
            <a:chExt cx="774899" cy="774899"/>
          </a:xfrm>
        </p:grpSpPr>
        <p:sp>
          <p:nvSpPr>
            <p:cNvPr name="Freeform 28" id="28" descr="preencoded.png"/>
            <p:cNvSpPr/>
            <p:nvPr/>
          </p:nvSpPr>
          <p:spPr>
            <a:xfrm flipH="false" flipV="false" rot="0">
              <a:off x="0" y="0"/>
              <a:ext cx="774954" cy="774954"/>
            </a:xfrm>
            <a:custGeom>
              <a:avLst/>
              <a:gdLst/>
              <a:ahLst/>
              <a:cxnLst/>
              <a:rect r="r" b="b" t="t" l="l"/>
              <a:pathLst>
                <a:path h="774954" w="774954">
                  <a:moveTo>
                    <a:pt x="0" y="0"/>
                  </a:moveTo>
                  <a:lnTo>
                    <a:pt x="774954" y="0"/>
                  </a:lnTo>
                  <a:lnTo>
                    <a:pt x="774954" y="774954"/>
                  </a:lnTo>
                  <a:lnTo>
                    <a:pt x="0" y="774954"/>
                  </a:lnTo>
                  <a:lnTo>
                    <a:pt x="0" y="0"/>
                  </a:lnTo>
                  <a:close/>
                </a:path>
              </a:pathLst>
            </a:custGeom>
            <a:blipFill>
              <a:blip r:embed="rId6"/>
              <a:stretch>
                <a:fillRect l="0" t="0" r="7" b="7"/>
              </a:stretch>
            </a:blipFill>
          </p:spPr>
        </p:sp>
      </p:grpSp>
      <p:grpSp>
        <p:nvGrpSpPr>
          <p:cNvPr name="Group 29" id="29"/>
          <p:cNvGrpSpPr/>
          <p:nvPr/>
        </p:nvGrpSpPr>
        <p:grpSpPr>
          <a:xfrm rot="0">
            <a:off x="1627286" y="7759153"/>
            <a:ext cx="2906316" cy="370434"/>
            <a:chOff x="0" y="0"/>
            <a:chExt cx="3875088" cy="493912"/>
          </a:xfrm>
        </p:grpSpPr>
        <p:sp>
          <p:nvSpPr>
            <p:cNvPr name="Freeform 30" id="30"/>
            <p:cNvSpPr/>
            <p:nvPr/>
          </p:nvSpPr>
          <p:spPr>
            <a:xfrm flipH="false" flipV="false" rot="0">
              <a:off x="0" y="0"/>
              <a:ext cx="3875088" cy="493912"/>
            </a:xfrm>
            <a:custGeom>
              <a:avLst/>
              <a:gdLst/>
              <a:ahLst/>
              <a:cxnLst/>
              <a:rect r="r" b="b" t="t" l="l"/>
              <a:pathLst>
                <a:path h="493912" w="3875088">
                  <a:moveTo>
                    <a:pt x="0" y="0"/>
                  </a:moveTo>
                  <a:lnTo>
                    <a:pt x="3875088" y="0"/>
                  </a:lnTo>
                  <a:lnTo>
                    <a:pt x="3875088" y="493912"/>
                  </a:lnTo>
                  <a:lnTo>
                    <a:pt x="0" y="493912"/>
                  </a:lnTo>
                  <a:close/>
                </a:path>
              </a:pathLst>
            </a:custGeom>
            <a:solidFill>
              <a:srgbClr val="000000">
                <a:alpha val="0"/>
              </a:srgbClr>
            </a:solidFill>
          </p:spPr>
        </p:sp>
        <p:sp>
          <p:nvSpPr>
            <p:cNvPr name="TextBox 31" id="31"/>
            <p:cNvSpPr txBox="true"/>
            <p:nvPr/>
          </p:nvSpPr>
          <p:spPr>
            <a:xfrm>
              <a:off x="0" y="-9525"/>
              <a:ext cx="3875088" cy="503437"/>
            </a:xfrm>
            <a:prstGeom prst="rect">
              <a:avLst/>
            </a:prstGeom>
          </p:spPr>
          <p:txBody>
            <a:bodyPr anchor="t" rtlCol="false" tIns="0" lIns="0" bIns="0" rIns="0"/>
            <a:lstStyle/>
            <a:p>
              <a:pPr algn="l">
                <a:lnSpc>
                  <a:spcPts val="2812"/>
                </a:lnSpc>
              </a:pPr>
              <a:r>
                <a:rPr lang="en-US" sz="2249" spc="-68">
                  <a:solidFill>
                    <a:srgbClr val="2B2E3C"/>
                  </a:solidFill>
                  <a:latin typeface="Bitter"/>
                  <a:ea typeface="Bitter"/>
                  <a:cs typeface="Bitter"/>
                  <a:sym typeface="Bitter"/>
                </a:rPr>
                <a:t>Preprocessing</a:t>
              </a:r>
            </a:p>
          </p:txBody>
        </p:sp>
      </p:grpSp>
      <p:grpSp>
        <p:nvGrpSpPr>
          <p:cNvPr name="Group 32" id="32"/>
          <p:cNvGrpSpPr/>
          <p:nvPr/>
        </p:nvGrpSpPr>
        <p:grpSpPr>
          <a:xfrm rot="0">
            <a:off x="1627286" y="8226178"/>
            <a:ext cx="15847070" cy="414783"/>
            <a:chOff x="0" y="0"/>
            <a:chExt cx="21129427" cy="553045"/>
          </a:xfrm>
        </p:grpSpPr>
        <p:sp>
          <p:nvSpPr>
            <p:cNvPr name="Freeform 33" id="33"/>
            <p:cNvSpPr/>
            <p:nvPr/>
          </p:nvSpPr>
          <p:spPr>
            <a:xfrm flipH="false" flipV="false" rot="0">
              <a:off x="0" y="0"/>
              <a:ext cx="21129427" cy="553045"/>
            </a:xfrm>
            <a:custGeom>
              <a:avLst/>
              <a:gdLst/>
              <a:ahLst/>
              <a:cxnLst/>
              <a:rect r="r" b="b" t="t" l="l"/>
              <a:pathLst>
                <a:path h="553045" w="21129427">
                  <a:moveTo>
                    <a:pt x="0" y="0"/>
                  </a:moveTo>
                  <a:lnTo>
                    <a:pt x="21129427" y="0"/>
                  </a:lnTo>
                  <a:lnTo>
                    <a:pt x="21129427" y="553045"/>
                  </a:lnTo>
                  <a:lnTo>
                    <a:pt x="0" y="553045"/>
                  </a:lnTo>
                  <a:close/>
                </a:path>
              </a:pathLst>
            </a:custGeom>
            <a:solidFill>
              <a:srgbClr val="000000">
                <a:alpha val="0"/>
              </a:srgbClr>
            </a:solidFill>
          </p:spPr>
        </p:sp>
        <p:sp>
          <p:nvSpPr>
            <p:cNvPr name="TextBox 34" id="34"/>
            <p:cNvSpPr txBox="true"/>
            <p:nvPr/>
          </p:nvSpPr>
          <p:spPr>
            <a:xfrm>
              <a:off x="0" y="-57150"/>
              <a:ext cx="21129427" cy="610195"/>
            </a:xfrm>
            <a:prstGeom prst="rect">
              <a:avLst/>
            </a:prstGeom>
          </p:spPr>
          <p:txBody>
            <a:bodyPr anchor="t" rtlCol="false" tIns="0" lIns="0" bIns="0" rIns="0"/>
            <a:lstStyle/>
            <a:p>
              <a:pPr algn="l">
                <a:lnSpc>
                  <a:spcPts val="2874"/>
                </a:lnSpc>
              </a:pPr>
              <a:r>
                <a:rPr lang="en-US" sz="1812" spc="-36">
                  <a:solidFill>
                    <a:srgbClr val="2B2E3C"/>
                  </a:solidFill>
                  <a:latin typeface="Open Sans"/>
                  <a:ea typeface="Open Sans"/>
                  <a:cs typeface="Open Sans"/>
                  <a:sym typeface="Open Sans"/>
                </a:rPr>
                <a:t>Normalization, Augmentation.</a:t>
              </a:r>
            </a:p>
          </p:txBody>
        </p:sp>
      </p:grpSp>
      <p:grpSp>
        <p:nvGrpSpPr>
          <p:cNvPr name="Group 35" id="35"/>
          <p:cNvGrpSpPr/>
          <p:nvPr/>
        </p:nvGrpSpPr>
        <p:grpSpPr>
          <a:xfrm rot="0">
            <a:off x="813644" y="8859590"/>
            <a:ext cx="16660714" cy="786704"/>
            <a:chOff x="0" y="0"/>
            <a:chExt cx="22214285" cy="1048939"/>
          </a:xfrm>
        </p:grpSpPr>
        <p:sp>
          <p:nvSpPr>
            <p:cNvPr name="Freeform 36" id="36"/>
            <p:cNvSpPr/>
            <p:nvPr/>
          </p:nvSpPr>
          <p:spPr>
            <a:xfrm flipH="false" flipV="false" rot="0">
              <a:off x="0" y="0"/>
              <a:ext cx="22214286" cy="1048939"/>
            </a:xfrm>
            <a:custGeom>
              <a:avLst/>
              <a:gdLst/>
              <a:ahLst/>
              <a:cxnLst/>
              <a:rect r="r" b="b" t="t" l="l"/>
              <a:pathLst>
                <a:path h="1048939" w="22214286">
                  <a:moveTo>
                    <a:pt x="0" y="0"/>
                  </a:moveTo>
                  <a:lnTo>
                    <a:pt x="22214286" y="0"/>
                  </a:lnTo>
                  <a:lnTo>
                    <a:pt x="22214286" y="1048939"/>
                  </a:lnTo>
                  <a:lnTo>
                    <a:pt x="0" y="1048939"/>
                  </a:lnTo>
                  <a:close/>
                </a:path>
              </a:pathLst>
            </a:custGeom>
            <a:solidFill>
              <a:srgbClr val="000000">
                <a:alpha val="0"/>
              </a:srgbClr>
            </a:solidFill>
          </p:spPr>
        </p:sp>
        <p:sp>
          <p:nvSpPr>
            <p:cNvPr name="TextBox 37" id="37"/>
            <p:cNvSpPr txBox="true"/>
            <p:nvPr/>
          </p:nvSpPr>
          <p:spPr>
            <a:xfrm>
              <a:off x="0" y="-57150"/>
              <a:ext cx="22214285" cy="1106089"/>
            </a:xfrm>
            <a:prstGeom prst="rect">
              <a:avLst/>
            </a:prstGeom>
          </p:spPr>
          <p:txBody>
            <a:bodyPr anchor="t" rtlCol="false" tIns="0" lIns="0" bIns="0" rIns="0"/>
            <a:lstStyle/>
            <a:p>
              <a:pPr algn="l">
                <a:lnSpc>
                  <a:spcPts val="2874"/>
                </a:lnSpc>
              </a:pPr>
              <a:r>
                <a:rPr lang="en-US" sz="1812" spc="-36">
                  <a:solidFill>
                    <a:srgbClr val="2B2E3C"/>
                  </a:solidFill>
                  <a:latin typeface="Open Sans"/>
                  <a:ea typeface="Open Sans"/>
                  <a:cs typeface="Open Sans"/>
                  <a:sym typeface="Open Sans"/>
                </a:rPr>
                <a:t>TensorFlow provides tools for efficient data handling. Use TensorFlow Datasets. Create data pipelines with the tf.data API. Preprocess data for optimal model performance.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81" t="0" r="-83"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92238" y="1348681"/>
            <a:ext cx="9445526" cy="1786234"/>
            <a:chOff x="0" y="0"/>
            <a:chExt cx="12594035" cy="2381646"/>
          </a:xfrm>
        </p:grpSpPr>
        <p:sp>
          <p:nvSpPr>
            <p:cNvPr name="Freeform 11" id="11"/>
            <p:cNvSpPr/>
            <p:nvPr/>
          </p:nvSpPr>
          <p:spPr>
            <a:xfrm flipH="false" flipV="false" rot="0">
              <a:off x="0" y="0"/>
              <a:ext cx="12594034" cy="2381646"/>
            </a:xfrm>
            <a:custGeom>
              <a:avLst/>
              <a:gdLst/>
              <a:ahLst/>
              <a:cxnLst/>
              <a:rect r="r" b="b" t="t" l="l"/>
              <a:pathLst>
                <a:path h="2381646" w="12594034">
                  <a:moveTo>
                    <a:pt x="0" y="0"/>
                  </a:moveTo>
                  <a:lnTo>
                    <a:pt x="12594034" y="0"/>
                  </a:lnTo>
                  <a:lnTo>
                    <a:pt x="12594034" y="2381646"/>
                  </a:lnTo>
                  <a:lnTo>
                    <a:pt x="0" y="2381646"/>
                  </a:lnTo>
                  <a:close/>
                </a:path>
              </a:pathLst>
            </a:custGeom>
            <a:solidFill>
              <a:srgbClr val="000000">
                <a:alpha val="0"/>
              </a:srgbClr>
            </a:solidFill>
          </p:spPr>
        </p:sp>
        <p:sp>
          <p:nvSpPr>
            <p:cNvPr name="TextBox 12" id="12"/>
            <p:cNvSpPr txBox="true"/>
            <p:nvPr/>
          </p:nvSpPr>
          <p:spPr>
            <a:xfrm>
              <a:off x="0" y="-19050"/>
              <a:ext cx="12594035" cy="2400696"/>
            </a:xfrm>
            <a:prstGeom prst="rect">
              <a:avLst/>
            </a:prstGeom>
          </p:spPr>
          <p:txBody>
            <a:bodyPr anchor="t" rtlCol="false" tIns="0" lIns="0" bIns="0" rIns="0"/>
            <a:lstStyle/>
            <a:p>
              <a:pPr algn="l">
                <a:lnSpc>
                  <a:spcPts val="6936"/>
                </a:lnSpc>
              </a:pPr>
              <a:r>
                <a:rPr lang="en-US" sz="5562" spc="-167">
                  <a:solidFill>
                    <a:srgbClr val="2C3F42"/>
                  </a:solidFill>
                  <a:latin typeface="Bitter"/>
                  <a:ea typeface="Bitter"/>
                  <a:cs typeface="Bitter"/>
                  <a:sym typeface="Bitter"/>
                </a:rPr>
                <a:t>Conclusion and Further Learning</a:t>
              </a:r>
            </a:p>
          </p:txBody>
        </p:sp>
      </p:grpSp>
      <p:sp>
        <p:nvSpPr>
          <p:cNvPr name="Freeform 13" id="13"/>
          <p:cNvSpPr/>
          <p:nvPr/>
        </p:nvSpPr>
        <p:spPr>
          <a:xfrm flipH="false" flipV="false" rot="0">
            <a:off x="987475" y="3555355"/>
            <a:ext cx="9455086" cy="2467260"/>
          </a:xfrm>
          <a:custGeom>
            <a:avLst/>
            <a:gdLst/>
            <a:ahLst/>
            <a:cxnLst/>
            <a:rect r="r" b="b" t="t" l="l"/>
            <a:pathLst>
              <a:path h="2467260" w="9455086">
                <a:moveTo>
                  <a:pt x="0" y="0"/>
                </a:moveTo>
                <a:lnTo>
                  <a:pt x="9455086" y="0"/>
                </a:lnTo>
                <a:lnTo>
                  <a:pt x="9455086" y="2467260"/>
                </a:lnTo>
                <a:lnTo>
                  <a:pt x="0" y="24672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1285280" y="3684985"/>
            <a:ext cx="8859441" cy="517923"/>
            <a:chOff x="0" y="0"/>
            <a:chExt cx="11812588" cy="690564"/>
          </a:xfrm>
        </p:grpSpPr>
        <p:sp>
          <p:nvSpPr>
            <p:cNvPr name="Freeform 15" id="15"/>
            <p:cNvSpPr/>
            <p:nvPr/>
          </p:nvSpPr>
          <p:spPr>
            <a:xfrm flipH="false" flipV="false" rot="0">
              <a:off x="0" y="0"/>
              <a:ext cx="11812588" cy="690564"/>
            </a:xfrm>
            <a:custGeom>
              <a:avLst/>
              <a:gdLst/>
              <a:ahLst/>
              <a:cxnLst/>
              <a:rect r="r" b="b" t="t" l="l"/>
              <a:pathLst>
                <a:path h="690564" w="11812588">
                  <a:moveTo>
                    <a:pt x="0" y="0"/>
                  </a:moveTo>
                  <a:lnTo>
                    <a:pt x="11812588" y="0"/>
                  </a:lnTo>
                  <a:lnTo>
                    <a:pt x="11812588" y="690564"/>
                  </a:lnTo>
                  <a:lnTo>
                    <a:pt x="0" y="690564"/>
                  </a:lnTo>
                  <a:close/>
                </a:path>
              </a:pathLst>
            </a:custGeom>
            <a:solidFill>
              <a:srgbClr val="000000">
                <a:alpha val="0"/>
              </a:srgbClr>
            </a:solidFill>
          </p:spPr>
        </p:sp>
        <p:sp>
          <p:nvSpPr>
            <p:cNvPr name="TextBox 16" id="16"/>
            <p:cNvSpPr txBox="true"/>
            <p:nvPr/>
          </p:nvSpPr>
          <p:spPr>
            <a:xfrm>
              <a:off x="0" y="-85725"/>
              <a:ext cx="11812588"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TensorFlow: ML framework</a:t>
              </a:r>
            </a:p>
          </p:txBody>
        </p:sp>
      </p:grpSp>
      <p:grpSp>
        <p:nvGrpSpPr>
          <p:cNvPr name="Group 17" id="17"/>
          <p:cNvGrpSpPr/>
          <p:nvPr/>
        </p:nvGrpSpPr>
        <p:grpSpPr>
          <a:xfrm rot="0">
            <a:off x="1285280" y="4497883"/>
            <a:ext cx="8859441" cy="517923"/>
            <a:chOff x="0" y="0"/>
            <a:chExt cx="11812588" cy="690564"/>
          </a:xfrm>
        </p:grpSpPr>
        <p:sp>
          <p:nvSpPr>
            <p:cNvPr name="Freeform 18" id="18"/>
            <p:cNvSpPr/>
            <p:nvPr/>
          </p:nvSpPr>
          <p:spPr>
            <a:xfrm flipH="false" flipV="false" rot="0">
              <a:off x="0" y="0"/>
              <a:ext cx="11812588" cy="690564"/>
            </a:xfrm>
            <a:custGeom>
              <a:avLst/>
              <a:gdLst/>
              <a:ahLst/>
              <a:cxnLst/>
              <a:rect r="r" b="b" t="t" l="l"/>
              <a:pathLst>
                <a:path h="690564" w="11812588">
                  <a:moveTo>
                    <a:pt x="0" y="0"/>
                  </a:moveTo>
                  <a:lnTo>
                    <a:pt x="11812588" y="0"/>
                  </a:lnTo>
                  <a:lnTo>
                    <a:pt x="11812588" y="690564"/>
                  </a:lnTo>
                  <a:lnTo>
                    <a:pt x="0" y="690564"/>
                  </a:lnTo>
                  <a:close/>
                </a:path>
              </a:pathLst>
            </a:custGeom>
            <a:solidFill>
              <a:srgbClr val="000000">
                <a:alpha val="0"/>
              </a:srgbClr>
            </a:solidFill>
          </p:spPr>
        </p:sp>
        <p:sp>
          <p:nvSpPr>
            <p:cNvPr name="TextBox 19" id="19"/>
            <p:cNvSpPr txBox="true"/>
            <p:nvPr/>
          </p:nvSpPr>
          <p:spPr>
            <a:xfrm>
              <a:off x="0" y="-85725"/>
              <a:ext cx="11812588"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Key Takeaways: Tensors, Models</a:t>
              </a:r>
            </a:p>
          </p:txBody>
        </p:sp>
      </p:grpSp>
      <p:grpSp>
        <p:nvGrpSpPr>
          <p:cNvPr name="Group 20" id="20"/>
          <p:cNvGrpSpPr/>
          <p:nvPr/>
        </p:nvGrpSpPr>
        <p:grpSpPr>
          <a:xfrm rot="0">
            <a:off x="1285280" y="5310782"/>
            <a:ext cx="8859441" cy="517923"/>
            <a:chOff x="0" y="0"/>
            <a:chExt cx="11812588" cy="690564"/>
          </a:xfrm>
        </p:grpSpPr>
        <p:sp>
          <p:nvSpPr>
            <p:cNvPr name="Freeform 21" id="21"/>
            <p:cNvSpPr/>
            <p:nvPr/>
          </p:nvSpPr>
          <p:spPr>
            <a:xfrm flipH="false" flipV="false" rot="0">
              <a:off x="0" y="0"/>
              <a:ext cx="11812588" cy="690564"/>
            </a:xfrm>
            <a:custGeom>
              <a:avLst/>
              <a:gdLst/>
              <a:ahLst/>
              <a:cxnLst/>
              <a:rect r="r" b="b" t="t" l="l"/>
              <a:pathLst>
                <a:path h="690564" w="11812588">
                  <a:moveTo>
                    <a:pt x="0" y="0"/>
                  </a:moveTo>
                  <a:lnTo>
                    <a:pt x="11812588" y="0"/>
                  </a:lnTo>
                  <a:lnTo>
                    <a:pt x="11812588" y="690564"/>
                  </a:lnTo>
                  <a:lnTo>
                    <a:pt x="0" y="690564"/>
                  </a:lnTo>
                  <a:close/>
                </a:path>
              </a:pathLst>
            </a:custGeom>
            <a:solidFill>
              <a:srgbClr val="000000">
                <a:alpha val="0"/>
              </a:srgbClr>
            </a:solidFill>
          </p:spPr>
        </p:sp>
        <p:sp>
          <p:nvSpPr>
            <p:cNvPr name="TextBox 22" id="22"/>
            <p:cNvSpPr txBox="true"/>
            <p:nvPr/>
          </p:nvSpPr>
          <p:spPr>
            <a:xfrm>
              <a:off x="0" y="-85725"/>
              <a:ext cx="11812588" cy="776289"/>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Resources: Documentation, tutorials</a:t>
              </a:r>
            </a:p>
          </p:txBody>
        </p:sp>
      </p:grpSp>
      <p:grpSp>
        <p:nvGrpSpPr>
          <p:cNvPr name="Group 23" id="23"/>
          <p:cNvGrpSpPr/>
          <p:nvPr/>
        </p:nvGrpSpPr>
        <p:grpSpPr>
          <a:xfrm rot="0">
            <a:off x="992238" y="6272510"/>
            <a:ext cx="9445526" cy="1425179"/>
            <a:chOff x="0" y="0"/>
            <a:chExt cx="12594035" cy="1900238"/>
          </a:xfrm>
        </p:grpSpPr>
        <p:sp>
          <p:nvSpPr>
            <p:cNvPr name="Freeform 24" id="24"/>
            <p:cNvSpPr/>
            <p:nvPr/>
          </p:nvSpPr>
          <p:spPr>
            <a:xfrm flipH="false" flipV="false" rot="0">
              <a:off x="0" y="0"/>
              <a:ext cx="12594034" cy="1900238"/>
            </a:xfrm>
            <a:custGeom>
              <a:avLst/>
              <a:gdLst/>
              <a:ahLst/>
              <a:cxnLst/>
              <a:rect r="r" b="b" t="t" l="l"/>
              <a:pathLst>
                <a:path h="1900238" w="12594034">
                  <a:moveTo>
                    <a:pt x="0" y="0"/>
                  </a:moveTo>
                  <a:lnTo>
                    <a:pt x="12594034" y="0"/>
                  </a:lnTo>
                  <a:lnTo>
                    <a:pt x="12594034" y="1900238"/>
                  </a:lnTo>
                  <a:lnTo>
                    <a:pt x="0" y="1900238"/>
                  </a:lnTo>
                  <a:close/>
                </a:path>
              </a:pathLst>
            </a:custGeom>
            <a:solidFill>
              <a:srgbClr val="000000">
                <a:alpha val="0"/>
              </a:srgbClr>
            </a:solidFill>
          </p:spPr>
        </p:sp>
        <p:sp>
          <p:nvSpPr>
            <p:cNvPr name="TextBox 25" id="25"/>
            <p:cNvSpPr txBox="true"/>
            <p:nvPr/>
          </p:nvSpPr>
          <p:spPr>
            <a:xfrm>
              <a:off x="0" y="-85725"/>
              <a:ext cx="12594035" cy="1985963"/>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TensorFlow is a powerful framework for ML. Key concepts include tensors, models, and training. Explore TensorFlow documentation. We hope you enjoy and lear</a:t>
              </a:r>
            </a:p>
          </p:txBody>
        </p:sp>
      </p:grpSp>
      <p:grpSp>
        <p:nvGrpSpPr>
          <p:cNvPr name="Group 26" id="26"/>
          <p:cNvGrpSpPr/>
          <p:nvPr/>
        </p:nvGrpSpPr>
        <p:grpSpPr>
          <a:xfrm rot="0">
            <a:off x="992238" y="7952333"/>
            <a:ext cx="9445526" cy="971550"/>
            <a:chOff x="0" y="0"/>
            <a:chExt cx="12594035" cy="1295400"/>
          </a:xfrm>
        </p:grpSpPr>
        <p:sp>
          <p:nvSpPr>
            <p:cNvPr name="Freeform 27" id="27"/>
            <p:cNvSpPr/>
            <p:nvPr/>
          </p:nvSpPr>
          <p:spPr>
            <a:xfrm flipH="false" flipV="false" rot="0">
              <a:off x="0" y="0"/>
              <a:ext cx="12594034" cy="1295400"/>
            </a:xfrm>
            <a:custGeom>
              <a:avLst/>
              <a:gdLst/>
              <a:ahLst/>
              <a:cxnLst/>
              <a:rect r="r" b="b" t="t" l="l"/>
              <a:pathLst>
                <a:path h="1295400" w="12594034">
                  <a:moveTo>
                    <a:pt x="0" y="0"/>
                  </a:moveTo>
                  <a:lnTo>
                    <a:pt x="12594034" y="0"/>
                  </a:lnTo>
                  <a:lnTo>
                    <a:pt x="12594034" y="1295400"/>
                  </a:lnTo>
                  <a:lnTo>
                    <a:pt x="0" y="1295400"/>
                  </a:lnTo>
                  <a:close/>
                </a:path>
              </a:pathLst>
            </a:custGeom>
            <a:solidFill>
              <a:srgbClr val="000000">
                <a:alpha val="0"/>
              </a:srgbClr>
            </a:solidFill>
          </p:spPr>
        </p:sp>
        <p:sp>
          <p:nvSpPr>
            <p:cNvPr name="TextBox 28" id="28"/>
            <p:cNvSpPr txBox="true"/>
            <p:nvPr/>
          </p:nvSpPr>
          <p:spPr>
            <a:xfrm>
              <a:off x="0" y="-85725"/>
              <a:ext cx="12594035" cy="1381125"/>
            </a:xfrm>
            <a:prstGeom prst="rect">
              <a:avLst/>
            </a:prstGeom>
          </p:spPr>
          <p:txBody>
            <a:bodyPr anchor="t" rtlCol="false" tIns="0" lIns="0" bIns="0" rIns="0"/>
            <a:lstStyle/>
            <a:p>
              <a:pPr algn="l">
                <a:lnSpc>
                  <a:spcPts val="3561"/>
                </a:lnSpc>
              </a:pPr>
              <a:r>
                <a:rPr lang="en-US" sz="2187" spc="-44">
                  <a:solidFill>
                    <a:srgbClr val="2B2E3C"/>
                  </a:solidFill>
                  <a:latin typeface="Open Sans"/>
                  <a:ea typeface="Open Sans"/>
                  <a:cs typeface="Open Sans"/>
                  <a:sym typeface="Open Sans"/>
                </a:rPr>
                <a:t>A comprehensive overview of using TensorFlow for machine learning in Python.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AABC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8F0"/>
            </a:solidFill>
          </p:spPr>
        </p:sp>
      </p:grpSp>
      <p:grpSp>
        <p:nvGrpSpPr>
          <p:cNvPr name="Group 6" id="6"/>
          <p:cNvGrpSpPr/>
          <p:nvPr/>
        </p:nvGrpSpPr>
        <p:grpSpPr>
          <a:xfrm rot="0">
            <a:off x="929431" y="708869"/>
            <a:ext cx="8443169" cy="851297"/>
            <a:chOff x="0" y="0"/>
            <a:chExt cx="11257559" cy="1135063"/>
          </a:xfrm>
        </p:grpSpPr>
        <p:sp>
          <p:nvSpPr>
            <p:cNvPr name="Freeform 7" id="7"/>
            <p:cNvSpPr/>
            <p:nvPr/>
          </p:nvSpPr>
          <p:spPr>
            <a:xfrm flipH="false" flipV="false" rot="0">
              <a:off x="0" y="0"/>
              <a:ext cx="11257559" cy="1135063"/>
            </a:xfrm>
            <a:custGeom>
              <a:avLst/>
              <a:gdLst/>
              <a:ahLst/>
              <a:cxnLst/>
              <a:rect r="r" b="b" t="t" l="l"/>
              <a:pathLst>
                <a:path h="1135063" w="11257559">
                  <a:moveTo>
                    <a:pt x="0" y="0"/>
                  </a:moveTo>
                  <a:lnTo>
                    <a:pt x="11257559" y="0"/>
                  </a:lnTo>
                  <a:lnTo>
                    <a:pt x="11257559" y="1135063"/>
                  </a:lnTo>
                  <a:lnTo>
                    <a:pt x="0" y="1135063"/>
                  </a:lnTo>
                  <a:close/>
                </a:path>
              </a:pathLst>
            </a:custGeom>
            <a:solidFill>
              <a:srgbClr val="000000">
                <a:alpha val="0"/>
              </a:srgbClr>
            </a:solidFill>
          </p:spPr>
        </p:sp>
        <p:sp>
          <p:nvSpPr>
            <p:cNvPr name="TextBox 8" id="8"/>
            <p:cNvSpPr txBox="true"/>
            <p:nvPr/>
          </p:nvSpPr>
          <p:spPr>
            <a:xfrm>
              <a:off x="0" y="-28575"/>
              <a:ext cx="11257559" cy="1163638"/>
            </a:xfrm>
            <a:prstGeom prst="rect">
              <a:avLst/>
            </a:prstGeom>
          </p:spPr>
          <p:txBody>
            <a:bodyPr anchor="t" rtlCol="false" tIns="0" lIns="0" bIns="0" rIns="0"/>
            <a:lstStyle/>
            <a:p>
              <a:pPr algn="l">
                <a:lnSpc>
                  <a:spcPts val="6500"/>
                </a:lnSpc>
              </a:pPr>
              <a:r>
                <a:rPr lang="en-US" sz="5187" spc="-155">
                  <a:solidFill>
                    <a:srgbClr val="2C3F42"/>
                  </a:solidFill>
                  <a:latin typeface="Bitter"/>
                  <a:ea typeface="Bitter"/>
                  <a:cs typeface="Bitter"/>
                  <a:sym typeface="Bitter"/>
                </a:rPr>
                <a:t>Benefits of Using TensorFlow</a:t>
              </a:r>
            </a:p>
          </p:txBody>
        </p:sp>
      </p:grpSp>
      <p:grpSp>
        <p:nvGrpSpPr>
          <p:cNvPr name="Group 9" id="9"/>
          <p:cNvGrpSpPr/>
          <p:nvPr/>
        </p:nvGrpSpPr>
        <p:grpSpPr>
          <a:xfrm rot="0">
            <a:off x="4020145" y="2091184"/>
            <a:ext cx="2032993" cy="1529954"/>
            <a:chOff x="0" y="0"/>
            <a:chExt cx="2710657" cy="2039939"/>
          </a:xfrm>
        </p:grpSpPr>
        <p:sp>
          <p:nvSpPr>
            <p:cNvPr name="Freeform 10" id="10" descr="preencoded.png"/>
            <p:cNvSpPr/>
            <p:nvPr/>
          </p:nvSpPr>
          <p:spPr>
            <a:xfrm flipH="false" flipV="false" rot="0">
              <a:off x="0" y="0"/>
              <a:ext cx="2710688" cy="2040001"/>
            </a:xfrm>
            <a:custGeom>
              <a:avLst/>
              <a:gdLst/>
              <a:ahLst/>
              <a:cxnLst/>
              <a:rect r="r" b="b" t="t" l="l"/>
              <a:pathLst>
                <a:path h="2040001" w="2710688">
                  <a:moveTo>
                    <a:pt x="0" y="0"/>
                  </a:moveTo>
                  <a:lnTo>
                    <a:pt x="2710688" y="0"/>
                  </a:lnTo>
                  <a:lnTo>
                    <a:pt x="2710688" y="2040001"/>
                  </a:lnTo>
                  <a:lnTo>
                    <a:pt x="0" y="2040001"/>
                  </a:lnTo>
                  <a:lnTo>
                    <a:pt x="0" y="0"/>
                  </a:lnTo>
                  <a:close/>
                </a:path>
              </a:pathLst>
            </a:custGeom>
            <a:blipFill>
              <a:blip r:embed="rId3"/>
              <a:stretch>
                <a:fillRect l="0" t="-219" r="1" b="-216"/>
              </a:stretch>
            </a:blipFill>
          </p:spPr>
        </p:sp>
      </p:grpSp>
      <p:grpSp>
        <p:nvGrpSpPr>
          <p:cNvPr name="Group 11" id="11"/>
          <p:cNvGrpSpPr/>
          <p:nvPr/>
        </p:nvGrpSpPr>
        <p:grpSpPr>
          <a:xfrm rot="0">
            <a:off x="4849862" y="2733824"/>
            <a:ext cx="373410" cy="545306"/>
            <a:chOff x="0" y="0"/>
            <a:chExt cx="497880" cy="727075"/>
          </a:xfrm>
        </p:grpSpPr>
        <p:sp>
          <p:nvSpPr>
            <p:cNvPr name="Freeform 12" id="12"/>
            <p:cNvSpPr/>
            <p:nvPr/>
          </p:nvSpPr>
          <p:spPr>
            <a:xfrm flipH="false" flipV="false" rot="0">
              <a:off x="0" y="0"/>
              <a:ext cx="497880" cy="727075"/>
            </a:xfrm>
            <a:custGeom>
              <a:avLst/>
              <a:gdLst/>
              <a:ahLst/>
              <a:cxnLst/>
              <a:rect r="r" b="b" t="t" l="l"/>
              <a:pathLst>
                <a:path h="727075" w="497880">
                  <a:moveTo>
                    <a:pt x="0" y="0"/>
                  </a:moveTo>
                  <a:lnTo>
                    <a:pt x="497880" y="0"/>
                  </a:lnTo>
                  <a:lnTo>
                    <a:pt x="497880" y="727075"/>
                  </a:lnTo>
                  <a:lnTo>
                    <a:pt x="0" y="727075"/>
                  </a:lnTo>
                  <a:close/>
                </a:path>
              </a:pathLst>
            </a:custGeom>
            <a:solidFill>
              <a:srgbClr val="000000">
                <a:alpha val="0"/>
              </a:srgbClr>
            </a:solidFill>
          </p:spPr>
        </p:sp>
        <p:sp>
          <p:nvSpPr>
            <p:cNvPr name="TextBox 13" id="13"/>
            <p:cNvSpPr txBox="true"/>
            <p:nvPr/>
          </p:nvSpPr>
          <p:spPr>
            <a:xfrm>
              <a:off x="0" y="-104775"/>
              <a:ext cx="497880" cy="831850"/>
            </a:xfrm>
            <a:prstGeom prst="rect">
              <a:avLst/>
            </a:prstGeom>
          </p:spPr>
          <p:txBody>
            <a:bodyPr anchor="t" rtlCol="false" tIns="0" lIns="0" bIns="0" rIns="0"/>
            <a:lstStyle/>
            <a:p>
              <a:pPr algn="ctr">
                <a:lnSpc>
                  <a:spcPts val="4687"/>
                </a:lnSpc>
              </a:pPr>
              <a:r>
                <a:rPr lang="en-US" sz="2936" spc="-77">
                  <a:solidFill>
                    <a:srgbClr val="2B2E3C"/>
                  </a:solidFill>
                  <a:latin typeface="Bitter"/>
                  <a:ea typeface="Bitter"/>
                  <a:cs typeface="Bitter"/>
                  <a:sym typeface="Bitter"/>
                </a:rPr>
                <a:t>1</a:t>
              </a:r>
            </a:p>
          </p:txBody>
        </p:sp>
      </p:grpSp>
      <p:grpSp>
        <p:nvGrpSpPr>
          <p:cNvPr name="Group 14" id="14"/>
          <p:cNvGrpSpPr/>
          <p:nvPr/>
        </p:nvGrpSpPr>
        <p:grpSpPr>
          <a:xfrm rot="0">
            <a:off x="6318647" y="2335263"/>
            <a:ext cx="2457747" cy="436364"/>
            <a:chOff x="0" y="0"/>
            <a:chExt cx="3276996" cy="581819"/>
          </a:xfrm>
        </p:grpSpPr>
        <p:sp>
          <p:nvSpPr>
            <p:cNvPr name="Freeform 15" id="15"/>
            <p:cNvSpPr/>
            <p:nvPr/>
          </p:nvSpPr>
          <p:spPr>
            <a:xfrm flipH="false" flipV="false" rot="0">
              <a:off x="0" y="0"/>
              <a:ext cx="3276996" cy="581819"/>
            </a:xfrm>
            <a:custGeom>
              <a:avLst/>
              <a:gdLst/>
              <a:ahLst/>
              <a:cxnLst/>
              <a:rect r="r" b="b" t="t" l="l"/>
              <a:pathLst>
                <a:path h="581819" w="3276996">
                  <a:moveTo>
                    <a:pt x="0" y="0"/>
                  </a:moveTo>
                  <a:lnTo>
                    <a:pt x="3276996" y="0"/>
                  </a:lnTo>
                  <a:lnTo>
                    <a:pt x="3276996" y="581819"/>
                  </a:lnTo>
                  <a:lnTo>
                    <a:pt x="0" y="581819"/>
                  </a:lnTo>
                  <a:close/>
                </a:path>
              </a:pathLst>
            </a:custGeom>
            <a:solidFill>
              <a:srgbClr val="000000">
                <a:alpha val="0"/>
              </a:srgbClr>
            </a:solidFill>
          </p:spPr>
        </p:sp>
        <p:sp>
          <p:nvSpPr>
            <p:cNvPr name="TextBox 16" id="16"/>
            <p:cNvSpPr txBox="true"/>
            <p:nvPr/>
          </p:nvSpPr>
          <p:spPr>
            <a:xfrm>
              <a:off x="0" y="-28575"/>
              <a:ext cx="3276996" cy="610394"/>
            </a:xfrm>
            <a:prstGeom prst="rect">
              <a:avLst/>
            </a:prstGeom>
          </p:spPr>
          <p:txBody>
            <a:bodyPr anchor="t" rtlCol="false" tIns="0" lIns="0" bIns="0" rIns="0"/>
            <a:lstStyle/>
            <a:p>
              <a:pPr algn="l">
                <a:lnSpc>
                  <a:spcPts val="3249"/>
                </a:lnSpc>
              </a:pPr>
              <a:r>
                <a:rPr lang="en-US" sz="2561" spc="-77">
                  <a:solidFill>
                    <a:srgbClr val="2B2E3C"/>
                  </a:solidFill>
                  <a:latin typeface="Bitter"/>
                  <a:ea typeface="Bitter"/>
                  <a:cs typeface="Bitter"/>
                  <a:sym typeface="Bitter"/>
                </a:rPr>
                <a:t>Scalability</a:t>
              </a:r>
            </a:p>
          </p:txBody>
        </p:sp>
      </p:grpSp>
      <p:grpSp>
        <p:nvGrpSpPr>
          <p:cNvPr name="Group 17" id="17"/>
          <p:cNvGrpSpPr/>
          <p:nvPr/>
        </p:nvGrpSpPr>
        <p:grpSpPr>
          <a:xfrm rot="0">
            <a:off x="6318647" y="2873722"/>
            <a:ext cx="2457747" cy="481905"/>
            <a:chOff x="0" y="0"/>
            <a:chExt cx="3276996" cy="642540"/>
          </a:xfrm>
        </p:grpSpPr>
        <p:sp>
          <p:nvSpPr>
            <p:cNvPr name="Freeform 18" id="18"/>
            <p:cNvSpPr/>
            <p:nvPr/>
          </p:nvSpPr>
          <p:spPr>
            <a:xfrm flipH="false" flipV="false" rot="0">
              <a:off x="0" y="0"/>
              <a:ext cx="3276996" cy="642540"/>
            </a:xfrm>
            <a:custGeom>
              <a:avLst/>
              <a:gdLst/>
              <a:ahLst/>
              <a:cxnLst/>
              <a:rect r="r" b="b" t="t" l="l"/>
              <a:pathLst>
                <a:path h="642540" w="3276996">
                  <a:moveTo>
                    <a:pt x="0" y="0"/>
                  </a:moveTo>
                  <a:lnTo>
                    <a:pt x="3276996" y="0"/>
                  </a:lnTo>
                  <a:lnTo>
                    <a:pt x="3276996" y="642540"/>
                  </a:lnTo>
                  <a:lnTo>
                    <a:pt x="0" y="642540"/>
                  </a:lnTo>
                  <a:close/>
                </a:path>
              </a:pathLst>
            </a:custGeom>
            <a:solidFill>
              <a:srgbClr val="000000">
                <a:alpha val="0"/>
              </a:srgbClr>
            </a:solidFill>
          </p:spPr>
        </p:sp>
        <p:sp>
          <p:nvSpPr>
            <p:cNvPr name="TextBox 19" id="19"/>
            <p:cNvSpPr txBox="true"/>
            <p:nvPr/>
          </p:nvSpPr>
          <p:spPr>
            <a:xfrm>
              <a:off x="0" y="-76200"/>
              <a:ext cx="3276996" cy="718740"/>
            </a:xfrm>
            <a:prstGeom prst="rect">
              <a:avLst/>
            </a:prstGeom>
          </p:spPr>
          <p:txBody>
            <a:bodyPr anchor="t" rtlCol="false" tIns="0" lIns="0" bIns="0" rIns="0"/>
            <a:lstStyle/>
            <a:p>
              <a:pPr algn="l">
                <a:lnSpc>
                  <a:spcPts val="3311"/>
                </a:lnSpc>
              </a:pPr>
              <a:r>
                <a:rPr lang="en-US" sz="2061" spc="-40">
                  <a:solidFill>
                    <a:srgbClr val="2B2E3C"/>
                  </a:solidFill>
                  <a:latin typeface="Open Sans"/>
                  <a:ea typeface="Open Sans"/>
                  <a:cs typeface="Open Sans"/>
                  <a:sym typeface="Open Sans"/>
                </a:rPr>
                <a:t>Train on GPUs/TPUs.</a:t>
              </a:r>
            </a:p>
          </p:txBody>
        </p:sp>
      </p:grpSp>
      <p:grpSp>
        <p:nvGrpSpPr>
          <p:cNvPr name="Group 20" id="20"/>
          <p:cNvGrpSpPr/>
          <p:nvPr/>
        </p:nvGrpSpPr>
        <p:grpSpPr>
          <a:xfrm rot="0">
            <a:off x="6119515" y="3642420"/>
            <a:ext cx="11172634" cy="14288"/>
            <a:chOff x="0" y="0"/>
            <a:chExt cx="14896845" cy="19051"/>
          </a:xfrm>
        </p:grpSpPr>
        <p:sp>
          <p:nvSpPr>
            <p:cNvPr name="Freeform 21" id="21"/>
            <p:cNvSpPr/>
            <p:nvPr/>
          </p:nvSpPr>
          <p:spPr>
            <a:xfrm flipH="false" flipV="false" rot="0">
              <a:off x="0" y="0"/>
              <a:ext cx="14896846" cy="19050"/>
            </a:xfrm>
            <a:custGeom>
              <a:avLst/>
              <a:gdLst/>
              <a:ahLst/>
              <a:cxnLst/>
              <a:rect r="r" b="b" t="t" l="l"/>
              <a:pathLst>
                <a:path h="19050" w="14896846">
                  <a:moveTo>
                    <a:pt x="0" y="9525"/>
                  </a:moveTo>
                  <a:cubicBezTo>
                    <a:pt x="0" y="4318"/>
                    <a:pt x="4318" y="0"/>
                    <a:pt x="9525" y="0"/>
                  </a:cubicBezTo>
                  <a:lnTo>
                    <a:pt x="14887321" y="0"/>
                  </a:lnTo>
                  <a:cubicBezTo>
                    <a:pt x="14892528" y="0"/>
                    <a:pt x="14896846" y="4318"/>
                    <a:pt x="14896846" y="9525"/>
                  </a:cubicBezTo>
                  <a:cubicBezTo>
                    <a:pt x="14896846" y="14732"/>
                    <a:pt x="14892528" y="19050"/>
                    <a:pt x="14887321" y="19050"/>
                  </a:cubicBezTo>
                  <a:lnTo>
                    <a:pt x="9525" y="19050"/>
                  </a:lnTo>
                  <a:cubicBezTo>
                    <a:pt x="4318" y="19050"/>
                    <a:pt x="0" y="14732"/>
                    <a:pt x="0" y="9525"/>
                  </a:cubicBezTo>
                  <a:close/>
                </a:path>
              </a:pathLst>
            </a:custGeom>
            <a:solidFill>
              <a:srgbClr val="E2C8B5"/>
            </a:solidFill>
          </p:spPr>
        </p:sp>
      </p:grpSp>
      <p:grpSp>
        <p:nvGrpSpPr>
          <p:cNvPr name="Group 22" id="22"/>
          <p:cNvGrpSpPr/>
          <p:nvPr/>
        </p:nvGrpSpPr>
        <p:grpSpPr>
          <a:xfrm rot="0">
            <a:off x="3003500" y="3687515"/>
            <a:ext cx="4066134" cy="1529954"/>
            <a:chOff x="0" y="0"/>
            <a:chExt cx="5421512" cy="2039939"/>
          </a:xfrm>
        </p:grpSpPr>
        <p:sp>
          <p:nvSpPr>
            <p:cNvPr name="Freeform 23" id="23" descr="preencoded.png"/>
            <p:cNvSpPr/>
            <p:nvPr/>
          </p:nvSpPr>
          <p:spPr>
            <a:xfrm flipH="false" flipV="false" rot="0">
              <a:off x="0" y="0"/>
              <a:ext cx="5421503" cy="2040001"/>
            </a:xfrm>
            <a:custGeom>
              <a:avLst/>
              <a:gdLst/>
              <a:ahLst/>
              <a:cxnLst/>
              <a:rect r="r" b="b" t="t" l="l"/>
              <a:pathLst>
                <a:path h="2040001" w="5421503">
                  <a:moveTo>
                    <a:pt x="0" y="0"/>
                  </a:moveTo>
                  <a:lnTo>
                    <a:pt x="5421503" y="0"/>
                  </a:lnTo>
                  <a:lnTo>
                    <a:pt x="5421503" y="2040001"/>
                  </a:lnTo>
                  <a:lnTo>
                    <a:pt x="0" y="2040001"/>
                  </a:lnTo>
                  <a:lnTo>
                    <a:pt x="0" y="0"/>
                  </a:lnTo>
                  <a:close/>
                </a:path>
              </a:pathLst>
            </a:custGeom>
            <a:blipFill>
              <a:blip r:embed="rId4"/>
              <a:stretch>
                <a:fillRect l="0" t="-103" r="0" b="-100"/>
              </a:stretch>
            </a:blipFill>
          </p:spPr>
        </p:sp>
      </p:grpSp>
      <p:grpSp>
        <p:nvGrpSpPr>
          <p:cNvPr name="Group 24" id="24"/>
          <p:cNvGrpSpPr/>
          <p:nvPr/>
        </p:nvGrpSpPr>
        <p:grpSpPr>
          <a:xfrm rot="0">
            <a:off x="4849862" y="4140548"/>
            <a:ext cx="373410" cy="545306"/>
            <a:chOff x="0" y="0"/>
            <a:chExt cx="497880" cy="727075"/>
          </a:xfrm>
        </p:grpSpPr>
        <p:sp>
          <p:nvSpPr>
            <p:cNvPr name="Freeform 25" id="25"/>
            <p:cNvSpPr/>
            <p:nvPr/>
          </p:nvSpPr>
          <p:spPr>
            <a:xfrm flipH="false" flipV="false" rot="0">
              <a:off x="0" y="0"/>
              <a:ext cx="497880" cy="727075"/>
            </a:xfrm>
            <a:custGeom>
              <a:avLst/>
              <a:gdLst/>
              <a:ahLst/>
              <a:cxnLst/>
              <a:rect r="r" b="b" t="t" l="l"/>
              <a:pathLst>
                <a:path h="727075" w="497880">
                  <a:moveTo>
                    <a:pt x="0" y="0"/>
                  </a:moveTo>
                  <a:lnTo>
                    <a:pt x="497880" y="0"/>
                  </a:lnTo>
                  <a:lnTo>
                    <a:pt x="497880" y="727075"/>
                  </a:lnTo>
                  <a:lnTo>
                    <a:pt x="0" y="727075"/>
                  </a:lnTo>
                  <a:close/>
                </a:path>
              </a:pathLst>
            </a:custGeom>
            <a:solidFill>
              <a:srgbClr val="000000">
                <a:alpha val="0"/>
              </a:srgbClr>
            </a:solidFill>
          </p:spPr>
        </p:sp>
        <p:sp>
          <p:nvSpPr>
            <p:cNvPr name="TextBox 26" id="26"/>
            <p:cNvSpPr txBox="true"/>
            <p:nvPr/>
          </p:nvSpPr>
          <p:spPr>
            <a:xfrm>
              <a:off x="0" y="-104775"/>
              <a:ext cx="497880" cy="831850"/>
            </a:xfrm>
            <a:prstGeom prst="rect">
              <a:avLst/>
            </a:prstGeom>
          </p:spPr>
          <p:txBody>
            <a:bodyPr anchor="t" rtlCol="false" tIns="0" lIns="0" bIns="0" rIns="0"/>
            <a:lstStyle/>
            <a:p>
              <a:pPr algn="ctr">
                <a:lnSpc>
                  <a:spcPts val="4687"/>
                </a:lnSpc>
              </a:pPr>
              <a:r>
                <a:rPr lang="en-US" sz="2936" spc="-77">
                  <a:solidFill>
                    <a:srgbClr val="2B2E3C"/>
                  </a:solidFill>
                  <a:latin typeface="Bitter"/>
                  <a:ea typeface="Bitter"/>
                  <a:cs typeface="Bitter"/>
                  <a:sym typeface="Bitter"/>
                </a:rPr>
                <a:t>2</a:t>
              </a:r>
            </a:p>
          </p:txBody>
        </p:sp>
      </p:grpSp>
      <p:grpSp>
        <p:nvGrpSpPr>
          <p:cNvPr name="Group 27" id="27"/>
          <p:cNvGrpSpPr/>
          <p:nvPr/>
        </p:nvGrpSpPr>
        <p:grpSpPr>
          <a:xfrm rot="0">
            <a:off x="7335142" y="3931593"/>
            <a:ext cx="2158901" cy="436364"/>
            <a:chOff x="0" y="0"/>
            <a:chExt cx="2878535" cy="581819"/>
          </a:xfrm>
        </p:grpSpPr>
        <p:sp>
          <p:nvSpPr>
            <p:cNvPr name="Freeform 28" id="28"/>
            <p:cNvSpPr/>
            <p:nvPr/>
          </p:nvSpPr>
          <p:spPr>
            <a:xfrm flipH="false" flipV="false" rot="0">
              <a:off x="0" y="0"/>
              <a:ext cx="2878535" cy="581819"/>
            </a:xfrm>
            <a:custGeom>
              <a:avLst/>
              <a:gdLst/>
              <a:ahLst/>
              <a:cxnLst/>
              <a:rect r="r" b="b" t="t" l="l"/>
              <a:pathLst>
                <a:path h="581819" w="2878535">
                  <a:moveTo>
                    <a:pt x="0" y="0"/>
                  </a:moveTo>
                  <a:lnTo>
                    <a:pt x="2878535" y="0"/>
                  </a:lnTo>
                  <a:lnTo>
                    <a:pt x="2878535" y="581819"/>
                  </a:lnTo>
                  <a:lnTo>
                    <a:pt x="0" y="581819"/>
                  </a:lnTo>
                  <a:close/>
                </a:path>
              </a:pathLst>
            </a:custGeom>
            <a:solidFill>
              <a:srgbClr val="000000">
                <a:alpha val="0"/>
              </a:srgbClr>
            </a:solidFill>
          </p:spPr>
        </p:sp>
        <p:sp>
          <p:nvSpPr>
            <p:cNvPr name="TextBox 29" id="29"/>
            <p:cNvSpPr txBox="true"/>
            <p:nvPr/>
          </p:nvSpPr>
          <p:spPr>
            <a:xfrm>
              <a:off x="0" y="-28575"/>
              <a:ext cx="2878535" cy="610394"/>
            </a:xfrm>
            <a:prstGeom prst="rect">
              <a:avLst/>
            </a:prstGeom>
          </p:spPr>
          <p:txBody>
            <a:bodyPr anchor="t" rtlCol="false" tIns="0" lIns="0" bIns="0" rIns="0"/>
            <a:lstStyle/>
            <a:p>
              <a:pPr algn="l">
                <a:lnSpc>
                  <a:spcPts val="3249"/>
                </a:lnSpc>
              </a:pPr>
              <a:r>
                <a:rPr lang="en-US" sz="2561" spc="-77">
                  <a:solidFill>
                    <a:srgbClr val="2B2E3C"/>
                  </a:solidFill>
                  <a:latin typeface="Bitter"/>
                  <a:ea typeface="Bitter"/>
                  <a:cs typeface="Bitter"/>
                  <a:sym typeface="Bitter"/>
                </a:rPr>
                <a:t>Flexibility</a:t>
              </a:r>
            </a:p>
          </p:txBody>
        </p:sp>
      </p:grpSp>
      <p:grpSp>
        <p:nvGrpSpPr>
          <p:cNvPr name="Group 30" id="30"/>
          <p:cNvGrpSpPr/>
          <p:nvPr/>
        </p:nvGrpSpPr>
        <p:grpSpPr>
          <a:xfrm rot="0">
            <a:off x="7335142" y="4470052"/>
            <a:ext cx="2158901" cy="481905"/>
            <a:chOff x="0" y="0"/>
            <a:chExt cx="2878535" cy="642540"/>
          </a:xfrm>
        </p:grpSpPr>
        <p:sp>
          <p:nvSpPr>
            <p:cNvPr name="Freeform 31" id="31"/>
            <p:cNvSpPr/>
            <p:nvPr/>
          </p:nvSpPr>
          <p:spPr>
            <a:xfrm flipH="false" flipV="false" rot="0">
              <a:off x="0" y="0"/>
              <a:ext cx="2878535" cy="642540"/>
            </a:xfrm>
            <a:custGeom>
              <a:avLst/>
              <a:gdLst/>
              <a:ahLst/>
              <a:cxnLst/>
              <a:rect r="r" b="b" t="t" l="l"/>
              <a:pathLst>
                <a:path h="642540" w="2878535">
                  <a:moveTo>
                    <a:pt x="0" y="0"/>
                  </a:moveTo>
                  <a:lnTo>
                    <a:pt x="2878535" y="0"/>
                  </a:lnTo>
                  <a:lnTo>
                    <a:pt x="2878535" y="642540"/>
                  </a:lnTo>
                  <a:lnTo>
                    <a:pt x="0" y="642540"/>
                  </a:lnTo>
                  <a:close/>
                </a:path>
              </a:pathLst>
            </a:custGeom>
            <a:solidFill>
              <a:srgbClr val="000000">
                <a:alpha val="0"/>
              </a:srgbClr>
            </a:solidFill>
          </p:spPr>
        </p:sp>
        <p:sp>
          <p:nvSpPr>
            <p:cNvPr name="TextBox 32" id="32"/>
            <p:cNvSpPr txBox="true"/>
            <p:nvPr/>
          </p:nvSpPr>
          <p:spPr>
            <a:xfrm>
              <a:off x="0" y="-76200"/>
              <a:ext cx="2878535" cy="718740"/>
            </a:xfrm>
            <a:prstGeom prst="rect">
              <a:avLst/>
            </a:prstGeom>
          </p:spPr>
          <p:txBody>
            <a:bodyPr anchor="t" rtlCol="false" tIns="0" lIns="0" bIns="0" rIns="0"/>
            <a:lstStyle/>
            <a:p>
              <a:pPr algn="l">
                <a:lnSpc>
                  <a:spcPts val="3311"/>
                </a:lnSpc>
              </a:pPr>
              <a:r>
                <a:rPr lang="en-US" sz="2061" spc="-40">
                  <a:solidFill>
                    <a:srgbClr val="2B2E3C"/>
                  </a:solidFill>
                  <a:latin typeface="Open Sans"/>
                  <a:ea typeface="Open Sans"/>
                  <a:cs typeface="Open Sans"/>
                  <a:sym typeface="Open Sans"/>
                </a:rPr>
                <a:t>Wide applications.</a:t>
              </a:r>
            </a:p>
          </p:txBody>
        </p:sp>
      </p:grpSp>
      <p:grpSp>
        <p:nvGrpSpPr>
          <p:cNvPr name="Group 33" id="33"/>
          <p:cNvGrpSpPr/>
          <p:nvPr/>
        </p:nvGrpSpPr>
        <p:grpSpPr>
          <a:xfrm rot="0">
            <a:off x="7136011" y="5238750"/>
            <a:ext cx="10156222" cy="14288"/>
            <a:chOff x="0" y="0"/>
            <a:chExt cx="13541629" cy="19051"/>
          </a:xfrm>
        </p:grpSpPr>
        <p:sp>
          <p:nvSpPr>
            <p:cNvPr name="Freeform 34" id="34"/>
            <p:cNvSpPr/>
            <p:nvPr/>
          </p:nvSpPr>
          <p:spPr>
            <a:xfrm flipH="false" flipV="false" rot="0">
              <a:off x="0" y="0"/>
              <a:ext cx="13541629" cy="19050"/>
            </a:xfrm>
            <a:custGeom>
              <a:avLst/>
              <a:gdLst/>
              <a:ahLst/>
              <a:cxnLst/>
              <a:rect r="r" b="b" t="t" l="l"/>
              <a:pathLst>
                <a:path h="19050" w="13541629">
                  <a:moveTo>
                    <a:pt x="0" y="9525"/>
                  </a:moveTo>
                  <a:cubicBezTo>
                    <a:pt x="0" y="4318"/>
                    <a:pt x="4318" y="0"/>
                    <a:pt x="9525" y="0"/>
                  </a:cubicBezTo>
                  <a:lnTo>
                    <a:pt x="13532104" y="0"/>
                  </a:lnTo>
                  <a:cubicBezTo>
                    <a:pt x="13537312" y="0"/>
                    <a:pt x="13541629" y="4318"/>
                    <a:pt x="13541629" y="9525"/>
                  </a:cubicBezTo>
                  <a:cubicBezTo>
                    <a:pt x="13541629" y="14732"/>
                    <a:pt x="13537312" y="19050"/>
                    <a:pt x="13532104" y="19050"/>
                  </a:cubicBezTo>
                  <a:lnTo>
                    <a:pt x="9525" y="19050"/>
                  </a:lnTo>
                  <a:cubicBezTo>
                    <a:pt x="4318" y="19050"/>
                    <a:pt x="0" y="14732"/>
                    <a:pt x="0" y="9525"/>
                  </a:cubicBezTo>
                  <a:close/>
                </a:path>
              </a:pathLst>
            </a:custGeom>
            <a:solidFill>
              <a:srgbClr val="E2C8B5"/>
            </a:solidFill>
          </p:spPr>
        </p:sp>
      </p:grpSp>
      <p:grpSp>
        <p:nvGrpSpPr>
          <p:cNvPr name="Group 35" id="35"/>
          <p:cNvGrpSpPr/>
          <p:nvPr/>
        </p:nvGrpSpPr>
        <p:grpSpPr>
          <a:xfrm rot="0">
            <a:off x="1987004" y="5283845"/>
            <a:ext cx="6099274" cy="1529954"/>
            <a:chOff x="0" y="0"/>
            <a:chExt cx="8132365" cy="2039939"/>
          </a:xfrm>
        </p:grpSpPr>
        <p:sp>
          <p:nvSpPr>
            <p:cNvPr name="Freeform 36" id="36" descr="preencoded.png"/>
            <p:cNvSpPr/>
            <p:nvPr/>
          </p:nvSpPr>
          <p:spPr>
            <a:xfrm flipH="false" flipV="false" rot="0">
              <a:off x="0" y="0"/>
              <a:ext cx="8132318" cy="2040001"/>
            </a:xfrm>
            <a:custGeom>
              <a:avLst/>
              <a:gdLst/>
              <a:ahLst/>
              <a:cxnLst/>
              <a:rect r="r" b="b" t="t" l="l"/>
              <a:pathLst>
                <a:path h="2040001" w="8132318">
                  <a:moveTo>
                    <a:pt x="0" y="0"/>
                  </a:moveTo>
                  <a:lnTo>
                    <a:pt x="8132318" y="0"/>
                  </a:lnTo>
                  <a:lnTo>
                    <a:pt x="8132318" y="2040001"/>
                  </a:lnTo>
                  <a:lnTo>
                    <a:pt x="0" y="2040001"/>
                  </a:lnTo>
                  <a:lnTo>
                    <a:pt x="0" y="0"/>
                  </a:lnTo>
                  <a:close/>
                </a:path>
              </a:pathLst>
            </a:custGeom>
            <a:blipFill>
              <a:blip r:embed="rId5"/>
              <a:stretch>
                <a:fillRect l="0" t="-143" r="0" b="-140"/>
              </a:stretch>
            </a:blipFill>
          </p:spPr>
        </p:sp>
      </p:grpSp>
      <p:grpSp>
        <p:nvGrpSpPr>
          <p:cNvPr name="Group 37" id="37"/>
          <p:cNvGrpSpPr/>
          <p:nvPr/>
        </p:nvGrpSpPr>
        <p:grpSpPr>
          <a:xfrm rot="0">
            <a:off x="4849862" y="5736878"/>
            <a:ext cx="373410" cy="545306"/>
            <a:chOff x="0" y="0"/>
            <a:chExt cx="497880" cy="727075"/>
          </a:xfrm>
        </p:grpSpPr>
        <p:sp>
          <p:nvSpPr>
            <p:cNvPr name="Freeform 38" id="38"/>
            <p:cNvSpPr/>
            <p:nvPr/>
          </p:nvSpPr>
          <p:spPr>
            <a:xfrm flipH="false" flipV="false" rot="0">
              <a:off x="0" y="0"/>
              <a:ext cx="497880" cy="727075"/>
            </a:xfrm>
            <a:custGeom>
              <a:avLst/>
              <a:gdLst/>
              <a:ahLst/>
              <a:cxnLst/>
              <a:rect r="r" b="b" t="t" l="l"/>
              <a:pathLst>
                <a:path h="727075" w="497880">
                  <a:moveTo>
                    <a:pt x="0" y="0"/>
                  </a:moveTo>
                  <a:lnTo>
                    <a:pt x="497880" y="0"/>
                  </a:lnTo>
                  <a:lnTo>
                    <a:pt x="497880" y="727075"/>
                  </a:lnTo>
                  <a:lnTo>
                    <a:pt x="0" y="727075"/>
                  </a:lnTo>
                  <a:close/>
                </a:path>
              </a:pathLst>
            </a:custGeom>
            <a:solidFill>
              <a:srgbClr val="000000">
                <a:alpha val="0"/>
              </a:srgbClr>
            </a:solidFill>
          </p:spPr>
        </p:sp>
        <p:sp>
          <p:nvSpPr>
            <p:cNvPr name="TextBox 39" id="39"/>
            <p:cNvSpPr txBox="true"/>
            <p:nvPr/>
          </p:nvSpPr>
          <p:spPr>
            <a:xfrm>
              <a:off x="0" y="-104775"/>
              <a:ext cx="497880" cy="831850"/>
            </a:xfrm>
            <a:prstGeom prst="rect">
              <a:avLst/>
            </a:prstGeom>
          </p:spPr>
          <p:txBody>
            <a:bodyPr anchor="t" rtlCol="false" tIns="0" lIns="0" bIns="0" rIns="0"/>
            <a:lstStyle/>
            <a:p>
              <a:pPr algn="ctr">
                <a:lnSpc>
                  <a:spcPts val="4687"/>
                </a:lnSpc>
              </a:pPr>
              <a:r>
                <a:rPr lang="en-US" sz="2936" spc="-77">
                  <a:solidFill>
                    <a:srgbClr val="2B2E3C"/>
                  </a:solidFill>
                  <a:latin typeface="Bitter"/>
                  <a:ea typeface="Bitter"/>
                  <a:cs typeface="Bitter"/>
                  <a:sym typeface="Bitter"/>
                </a:rPr>
                <a:t>3</a:t>
              </a:r>
            </a:p>
          </p:txBody>
        </p:sp>
      </p:grpSp>
      <p:grpSp>
        <p:nvGrpSpPr>
          <p:cNvPr name="Group 40" id="40"/>
          <p:cNvGrpSpPr/>
          <p:nvPr/>
        </p:nvGrpSpPr>
        <p:grpSpPr>
          <a:xfrm rot="0">
            <a:off x="8351788" y="5527923"/>
            <a:ext cx="2188666" cy="436364"/>
            <a:chOff x="0" y="0"/>
            <a:chExt cx="2918221" cy="581819"/>
          </a:xfrm>
        </p:grpSpPr>
        <p:sp>
          <p:nvSpPr>
            <p:cNvPr name="Freeform 41" id="41"/>
            <p:cNvSpPr/>
            <p:nvPr/>
          </p:nvSpPr>
          <p:spPr>
            <a:xfrm flipH="false" flipV="false" rot="0">
              <a:off x="0" y="0"/>
              <a:ext cx="2918221" cy="581819"/>
            </a:xfrm>
            <a:custGeom>
              <a:avLst/>
              <a:gdLst/>
              <a:ahLst/>
              <a:cxnLst/>
              <a:rect r="r" b="b" t="t" l="l"/>
              <a:pathLst>
                <a:path h="581819" w="2918221">
                  <a:moveTo>
                    <a:pt x="0" y="0"/>
                  </a:moveTo>
                  <a:lnTo>
                    <a:pt x="2918221" y="0"/>
                  </a:lnTo>
                  <a:lnTo>
                    <a:pt x="2918221" y="581819"/>
                  </a:lnTo>
                  <a:lnTo>
                    <a:pt x="0" y="581819"/>
                  </a:lnTo>
                  <a:close/>
                </a:path>
              </a:pathLst>
            </a:custGeom>
            <a:solidFill>
              <a:srgbClr val="000000">
                <a:alpha val="0"/>
              </a:srgbClr>
            </a:solidFill>
          </p:spPr>
        </p:sp>
        <p:sp>
          <p:nvSpPr>
            <p:cNvPr name="TextBox 42" id="42"/>
            <p:cNvSpPr txBox="true"/>
            <p:nvPr/>
          </p:nvSpPr>
          <p:spPr>
            <a:xfrm>
              <a:off x="0" y="-28575"/>
              <a:ext cx="2918221" cy="610394"/>
            </a:xfrm>
            <a:prstGeom prst="rect">
              <a:avLst/>
            </a:prstGeom>
          </p:spPr>
          <p:txBody>
            <a:bodyPr anchor="t" rtlCol="false" tIns="0" lIns="0" bIns="0" rIns="0"/>
            <a:lstStyle/>
            <a:p>
              <a:pPr algn="l">
                <a:lnSpc>
                  <a:spcPts val="3249"/>
                </a:lnSpc>
              </a:pPr>
              <a:r>
                <a:rPr lang="en-US" sz="2561" spc="-77">
                  <a:solidFill>
                    <a:srgbClr val="2B2E3C"/>
                  </a:solidFill>
                  <a:latin typeface="Bitter"/>
                  <a:ea typeface="Bitter"/>
                  <a:cs typeface="Bitter"/>
                  <a:sym typeface="Bitter"/>
                </a:rPr>
                <a:t>Community</a:t>
              </a:r>
            </a:p>
          </p:txBody>
        </p:sp>
      </p:grpSp>
      <p:grpSp>
        <p:nvGrpSpPr>
          <p:cNvPr name="Group 43" id="43"/>
          <p:cNvGrpSpPr/>
          <p:nvPr/>
        </p:nvGrpSpPr>
        <p:grpSpPr>
          <a:xfrm rot="0">
            <a:off x="8351788" y="6066384"/>
            <a:ext cx="2188666" cy="481905"/>
            <a:chOff x="0" y="0"/>
            <a:chExt cx="2918221" cy="642540"/>
          </a:xfrm>
        </p:grpSpPr>
        <p:sp>
          <p:nvSpPr>
            <p:cNvPr name="Freeform 44" id="44"/>
            <p:cNvSpPr/>
            <p:nvPr/>
          </p:nvSpPr>
          <p:spPr>
            <a:xfrm flipH="false" flipV="false" rot="0">
              <a:off x="0" y="0"/>
              <a:ext cx="2918221" cy="642540"/>
            </a:xfrm>
            <a:custGeom>
              <a:avLst/>
              <a:gdLst/>
              <a:ahLst/>
              <a:cxnLst/>
              <a:rect r="r" b="b" t="t" l="l"/>
              <a:pathLst>
                <a:path h="642540" w="2918221">
                  <a:moveTo>
                    <a:pt x="0" y="0"/>
                  </a:moveTo>
                  <a:lnTo>
                    <a:pt x="2918221" y="0"/>
                  </a:lnTo>
                  <a:lnTo>
                    <a:pt x="2918221" y="642540"/>
                  </a:lnTo>
                  <a:lnTo>
                    <a:pt x="0" y="642540"/>
                  </a:lnTo>
                  <a:close/>
                </a:path>
              </a:pathLst>
            </a:custGeom>
            <a:solidFill>
              <a:srgbClr val="000000">
                <a:alpha val="0"/>
              </a:srgbClr>
            </a:solidFill>
          </p:spPr>
        </p:sp>
        <p:sp>
          <p:nvSpPr>
            <p:cNvPr name="TextBox 45" id="45"/>
            <p:cNvSpPr txBox="true"/>
            <p:nvPr/>
          </p:nvSpPr>
          <p:spPr>
            <a:xfrm>
              <a:off x="0" y="-76200"/>
              <a:ext cx="2918221" cy="718740"/>
            </a:xfrm>
            <a:prstGeom prst="rect">
              <a:avLst/>
            </a:prstGeom>
          </p:spPr>
          <p:txBody>
            <a:bodyPr anchor="t" rtlCol="false" tIns="0" lIns="0" bIns="0" rIns="0"/>
            <a:lstStyle/>
            <a:p>
              <a:pPr algn="l">
                <a:lnSpc>
                  <a:spcPts val="3311"/>
                </a:lnSpc>
              </a:pPr>
              <a:r>
                <a:rPr lang="en-US" sz="2061" spc="-40">
                  <a:solidFill>
                    <a:srgbClr val="2B2E3C"/>
                  </a:solidFill>
                  <a:latin typeface="Open Sans"/>
                  <a:ea typeface="Open Sans"/>
                  <a:cs typeface="Open Sans"/>
                  <a:sym typeface="Open Sans"/>
                </a:rPr>
                <a:t>Extensive support.</a:t>
              </a:r>
            </a:p>
          </p:txBody>
        </p:sp>
      </p:grpSp>
      <p:grpSp>
        <p:nvGrpSpPr>
          <p:cNvPr name="Group 46" id="46"/>
          <p:cNvGrpSpPr/>
          <p:nvPr/>
        </p:nvGrpSpPr>
        <p:grpSpPr>
          <a:xfrm rot="0">
            <a:off x="8152656" y="6835080"/>
            <a:ext cx="9139523" cy="14288"/>
            <a:chOff x="0" y="0"/>
            <a:chExt cx="12186031" cy="19051"/>
          </a:xfrm>
        </p:grpSpPr>
        <p:sp>
          <p:nvSpPr>
            <p:cNvPr name="Freeform 47" id="47"/>
            <p:cNvSpPr/>
            <p:nvPr/>
          </p:nvSpPr>
          <p:spPr>
            <a:xfrm flipH="false" flipV="false" rot="0">
              <a:off x="0" y="0"/>
              <a:ext cx="12186031" cy="19050"/>
            </a:xfrm>
            <a:custGeom>
              <a:avLst/>
              <a:gdLst/>
              <a:ahLst/>
              <a:cxnLst/>
              <a:rect r="r" b="b" t="t" l="l"/>
              <a:pathLst>
                <a:path h="19050" w="12186031">
                  <a:moveTo>
                    <a:pt x="0" y="9525"/>
                  </a:moveTo>
                  <a:cubicBezTo>
                    <a:pt x="0" y="4318"/>
                    <a:pt x="4318" y="0"/>
                    <a:pt x="9525" y="0"/>
                  </a:cubicBezTo>
                  <a:lnTo>
                    <a:pt x="12176506" y="0"/>
                  </a:lnTo>
                  <a:cubicBezTo>
                    <a:pt x="12181713" y="0"/>
                    <a:pt x="12186031" y="4318"/>
                    <a:pt x="12186031" y="9525"/>
                  </a:cubicBezTo>
                  <a:cubicBezTo>
                    <a:pt x="12186031" y="14732"/>
                    <a:pt x="12181713" y="19050"/>
                    <a:pt x="12176506" y="19050"/>
                  </a:cubicBezTo>
                  <a:lnTo>
                    <a:pt x="9525" y="19050"/>
                  </a:lnTo>
                  <a:cubicBezTo>
                    <a:pt x="4318" y="19050"/>
                    <a:pt x="0" y="14732"/>
                    <a:pt x="0" y="9525"/>
                  </a:cubicBezTo>
                  <a:close/>
                </a:path>
              </a:pathLst>
            </a:custGeom>
            <a:solidFill>
              <a:srgbClr val="E2C8B5"/>
            </a:solidFill>
          </p:spPr>
        </p:sp>
      </p:grpSp>
      <p:grpSp>
        <p:nvGrpSpPr>
          <p:cNvPr name="Group 48" id="48"/>
          <p:cNvGrpSpPr/>
          <p:nvPr/>
        </p:nvGrpSpPr>
        <p:grpSpPr>
          <a:xfrm rot="0">
            <a:off x="970359" y="6880175"/>
            <a:ext cx="8132415" cy="1529954"/>
            <a:chOff x="0" y="0"/>
            <a:chExt cx="10843220" cy="2039939"/>
          </a:xfrm>
        </p:grpSpPr>
        <p:sp>
          <p:nvSpPr>
            <p:cNvPr name="Freeform 49" id="49" descr="preencoded.png"/>
            <p:cNvSpPr/>
            <p:nvPr/>
          </p:nvSpPr>
          <p:spPr>
            <a:xfrm flipH="false" flipV="false" rot="0">
              <a:off x="0" y="0"/>
              <a:ext cx="10843260" cy="2040001"/>
            </a:xfrm>
            <a:custGeom>
              <a:avLst/>
              <a:gdLst/>
              <a:ahLst/>
              <a:cxnLst/>
              <a:rect r="r" b="b" t="t" l="l"/>
              <a:pathLst>
                <a:path h="2040001" w="10843260">
                  <a:moveTo>
                    <a:pt x="0" y="0"/>
                  </a:moveTo>
                  <a:lnTo>
                    <a:pt x="10843260" y="0"/>
                  </a:lnTo>
                  <a:lnTo>
                    <a:pt x="10843260" y="2040001"/>
                  </a:lnTo>
                  <a:lnTo>
                    <a:pt x="0" y="2040001"/>
                  </a:lnTo>
                  <a:lnTo>
                    <a:pt x="0" y="0"/>
                  </a:lnTo>
                  <a:close/>
                </a:path>
              </a:pathLst>
            </a:custGeom>
            <a:blipFill>
              <a:blip r:embed="rId6"/>
              <a:stretch>
                <a:fillRect l="0" t="-104" r="0" b="-101"/>
              </a:stretch>
            </a:blipFill>
          </p:spPr>
        </p:sp>
      </p:grpSp>
      <p:grpSp>
        <p:nvGrpSpPr>
          <p:cNvPr name="Group 50" id="50"/>
          <p:cNvGrpSpPr/>
          <p:nvPr/>
        </p:nvGrpSpPr>
        <p:grpSpPr>
          <a:xfrm rot="0">
            <a:off x="4849862" y="7333209"/>
            <a:ext cx="373410" cy="545306"/>
            <a:chOff x="0" y="0"/>
            <a:chExt cx="497880" cy="727075"/>
          </a:xfrm>
        </p:grpSpPr>
        <p:sp>
          <p:nvSpPr>
            <p:cNvPr name="Freeform 51" id="51"/>
            <p:cNvSpPr/>
            <p:nvPr/>
          </p:nvSpPr>
          <p:spPr>
            <a:xfrm flipH="false" flipV="false" rot="0">
              <a:off x="0" y="0"/>
              <a:ext cx="497880" cy="727075"/>
            </a:xfrm>
            <a:custGeom>
              <a:avLst/>
              <a:gdLst/>
              <a:ahLst/>
              <a:cxnLst/>
              <a:rect r="r" b="b" t="t" l="l"/>
              <a:pathLst>
                <a:path h="727075" w="497880">
                  <a:moveTo>
                    <a:pt x="0" y="0"/>
                  </a:moveTo>
                  <a:lnTo>
                    <a:pt x="497880" y="0"/>
                  </a:lnTo>
                  <a:lnTo>
                    <a:pt x="497880" y="727075"/>
                  </a:lnTo>
                  <a:lnTo>
                    <a:pt x="0" y="727075"/>
                  </a:lnTo>
                  <a:close/>
                </a:path>
              </a:pathLst>
            </a:custGeom>
            <a:solidFill>
              <a:srgbClr val="000000">
                <a:alpha val="0"/>
              </a:srgbClr>
            </a:solidFill>
          </p:spPr>
        </p:sp>
        <p:sp>
          <p:nvSpPr>
            <p:cNvPr name="TextBox 52" id="52"/>
            <p:cNvSpPr txBox="true"/>
            <p:nvPr/>
          </p:nvSpPr>
          <p:spPr>
            <a:xfrm>
              <a:off x="0" y="-104775"/>
              <a:ext cx="497880" cy="831850"/>
            </a:xfrm>
            <a:prstGeom prst="rect">
              <a:avLst/>
            </a:prstGeom>
          </p:spPr>
          <p:txBody>
            <a:bodyPr anchor="t" rtlCol="false" tIns="0" lIns="0" bIns="0" rIns="0"/>
            <a:lstStyle/>
            <a:p>
              <a:pPr algn="ctr">
                <a:lnSpc>
                  <a:spcPts val="4687"/>
                </a:lnSpc>
              </a:pPr>
              <a:r>
                <a:rPr lang="en-US" sz="2936" spc="-77">
                  <a:solidFill>
                    <a:srgbClr val="2B2E3C"/>
                  </a:solidFill>
                  <a:latin typeface="Bitter"/>
                  <a:ea typeface="Bitter"/>
                  <a:cs typeface="Bitter"/>
                  <a:sym typeface="Bitter"/>
                </a:rPr>
                <a:t>4</a:t>
              </a:r>
            </a:p>
          </p:txBody>
        </p:sp>
      </p:grpSp>
      <p:grpSp>
        <p:nvGrpSpPr>
          <p:cNvPr name="Group 53" id="53"/>
          <p:cNvGrpSpPr/>
          <p:nvPr/>
        </p:nvGrpSpPr>
        <p:grpSpPr>
          <a:xfrm rot="0">
            <a:off x="9368284" y="7124254"/>
            <a:ext cx="2370087" cy="436364"/>
            <a:chOff x="0" y="0"/>
            <a:chExt cx="3160116" cy="581819"/>
          </a:xfrm>
        </p:grpSpPr>
        <p:sp>
          <p:nvSpPr>
            <p:cNvPr name="Freeform 54" id="54"/>
            <p:cNvSpPr/>
            <p:nvPr/>
          </p:nvSpPr>
          <p:spPr>
            <a:xfrm flipH="false" flipV="false" rot="0">
              <a:off x="0" y="0"/>
              <a:ext cx="3160116" cy="581819"/>
            </a:xfrm>
            <a:custGeom>
              <a:avLst/>
              <a:gdLst/>
              <a:ahLst/>
              <a:cxnLst/>
              <a:rect r="r" b="b" t="t" l="l"/>
              <a:pathLst>
                <a:path h="581819" w="3160116">
                  <a:moveTo>
                    <a:pt x="0" y="0"/>
                  </a:moveTo>
                  <a:lnTo>
                    <a:pt x="3160116" y="0"/>
                  </a:lnTo>
                  <a:lnTo>
                    <a:pt x="3160116" y="581819"/>
                  </a:lnTo>
                  <a:lnTo>
                    <a:pt x="0" y="581819"/>
                  </a:lnTo>
                  <a:close/>
                </a:path>
              </a:pathLst>
            </a:custGeom>
            <a:solidFill>
              <a:srgbClr val="000000">
                <a:alpha val="0"/>
              </a:srgbClr>
            </a:solidFill>
          </p:spPr>
        </p:sp>
        <p:sp>
          <p:nvSpPr>
            <p:cNvPr name="TextBox 55" id="55"/>
            <p:cNvSpPr txBox="true"/>
            <p:nvPr/>
          </p:nvSpPr>
          <p:spPr>
            <a:xfrm>
              <a:off x="0" y="-28575"/>
              <a:ext cx="3160116" cy="610394"/>
            </a:xfrm>
            <a:prstGeom prst="rect">
              <a:avLst/>
            </a:prstGeom>
          </p:spPr>
          <p:txBody>
            <a:bodyPr anchor="t" rtlCol="false" tIns="0" lIns="0" bIns="0" rIns="0"/>
            <a:lstStyle/>
            <a:p>
              <a:pPr algn="l">
                <a:lnSpc>
                  <a:spcPts val="3249"/>
                </a:lnSpc>
              </a:pPr>
              <a:r>
                <a:rPr lang="en-US" sz="2561" spc="-77">
                  <a:solidFill>
                    <a:srgbClr val="2B2E3C"/>
                  </a:solidFill>
                  <a:latin typeface="Bitter"/>
                  <a:ea typeface="Bitter"/>
                  <a:cs typeface="Bitter"/>
                  <a:sym typeface="Bitter"/>
                </a:rPr>
                <a:t>Production</a:t>
              </a:r>
            </a:p>
          </p:txBody>
        </p:sp>
      </p:grpSp>
      <p:grpSp>
        <p:nvGrpSpPr>
          <p:cNvPr name="Group 56" id="56"/>
          <p:cNvGrpSpPr/>
          <p:nvPr/>
        </p:nvGrpSpPr>
        <p:grpSpPr>
          <a:xfrm rot="0">
            <a:off x="9368284" y="7662714"/>
            <a:ext cx="2370087" cy="481905"/>
            <a:chOff x="0" y="0"/>
            <a:chExt cx="3160116" cy="642540"/>
          </a:xfrm>
        </p:grpSpPr>
        <p:sp>
          <p:nvSpPr>
            <p:cNvPr name="Freeform 57" id="57"/>
            <p:cNvSpPr/>
            <p:nvPr/>
          </p:nvSpPr>
          <p:spPr>
            <a:xfrm flipH="false" flipV="false" rot="0">
              <a:off x="0" y="0"/>
              <a:ext cx="3160116" cy="642540"/>
            </a:xfrm>
            <a:custGeom>
              <a:avLst/>
              <a:gdLst/>
              <a:ahLst/>
              <a:cxnLst/>
              <a:rect r="r" b="b" t="t" l="l"/>
              <a:pathLst>
                <a:path h="642540" w="3160116">
                  <a:moveTo>
                    <a:pt x="0" y="0"/>
                  </a:moveTo>
                  <a:lnTo>
                    <a:pt x="3160116" y="0"/>
                  </a:lnTo>
                  <a:lnTo>
                    <a:pt x="3160116" y="642540"/>
                  </a:lnTo>
                  <a:lnTo>
                    <a:pt x="0" y="642540"/>
                  </a:lnTo>
                  <a:close/>
                </a:path>
              </a:pathLst>
            </a:custGeom>
            <a:solidFill>
              <a:srgbClr val="000000">
                <a:alpha val="0"/>
              </a:srgbClr>
            </a:solidFill>
          </p:spPr>
        </p:sp>
        <p:sp>
          <p:nvSpPr>
            <p:cNvPr name="TextBox 58" id="58"/>
            <p:cNvSpPr txBox="true"/>
            <p:nvPr/>
          </p:nvSpPr>
          <p:spPr>
            <a:xfrm>
              <a:off x="0" y="-76200"/>
              <a:ext cx="3160116" cy="718740"/>
            </a:xfrm>
            <a:prstGeom prst="rect">
              <a:avLst/>
            </a:prstGeom>
          </p:spPr>
          <p:txBody>
            <a:bodyPr anchor="t" rtlCol="false" tIns="0" lIns="0" bIns="0" rIns="0"/>
            <a:lstStyle/>
            <a:p>
              <a:pPr algn="l">
                <a:lnSpc>
                  <a:spcPts val="3311"/>
                </a:lnSpc>
              </a:pPr>
              <a:r>
                <a:rPr lang="en-US" sz="2061" spc="-40">
                  <a:solidFill>
                    <a:srgbClr val="2B2E3C"/>
                  </a:solidFill>
                  <a:latin typeface="Open Sans"/>
                  <a:ea typeface="Open Sans"/>
                  <a:cs typeface="Open Sans"/>
                  <a:sym typeface="Open Sans"/>
                </a:rPr>
                <a:t>TensorFlow Serving.</a:t>
              </a:r>
            </a:p>
          </p:txBody>
        </p:sp>
      </p:grpSp>
      <p:grpSp>
        <p:nvGrpSpPr>
          <p:cNvPr name="Group 59" id="59"/>
          <p:cNvGrpSpPr/>
          <p:nvPr/>
        </p:nvGrpSpPr>
        <p:grpSpPr>
          <a:xfrm rot="0">
            <a:off x="929431" y="8651676"/>
            <a:ext cx="16429136" cy="906661"/>
            <a:chOff x="0" y="0"/>
            <a:chExt cx="21905515" cy="1208881"/>
          </a:xfrm>
        </p:grpSpPr>
        <p:sp>
          <p:nvSpPr>
            <p:cNvPr name="Freeform 60" id="60"/>
            <p:cNvSpPr/>
            <p:nvPr/>
          </p:nvSpPr>
          <p:spPr>
            <a:xfrm flipH="false" flipV="false" rot="0">
              <a:off x="0" y="0"/>
              <a:ext cx="21905514" cy="1208881"/>
            </a:xfrm>
            <a:custGeom>
              <a:avLst/>
              <a:gdLst/>
              <a:ahLst/>
              <a:cxnLst/>
              <a:rect r="r" b="b" t="t" l="l"/>
              <a:pathLst>
                <a:path h="1208881" w="21905514">
                  <a:moveTo>
                    <a:pt x="0" y="0"/>
                  </a:moveTo>
                  <a:lnTo>
                    <a:pt x="21905514" y="0"/>
                  </a:lnTo>
                  <a:lnTo>
                    <a:pt x="21905514" y="1208881"/>
                  </a:lnTo>
                  <a:lnTo>
                    <a:pt x="0" y="1208881"/>
                  </a:lnTo>
                  <a:close/>
                </a:path>
              </a:pathLst>
            </a:custGeom>
            <a:solidFill>
              <a:srgbClr val="000000">
                <a:alpha val="0"/>
              </a:srgbClr>
            </a:solidFill>
          </p:spPr>
        </p:sp>
        <p:sp>
          <p:nvSpPr>
            <p:cNvPr name="TextBox 61" id="61"/>
            <p:cNvSpPr txBox="true"/>
            <p:nvPr/>
          </p:nvSpPr>
          <p:spPr>
            <a:xfrm>
              <a:off x="0" y="-76200"/>
              <a:ext cx="21905515" cy="1285081"/>
            </a:xfrm>
            <a:prstGeom prst="rect">
              <a:avLst/>
            </a:prstGeom>
          </p:spPr>
          <p:txBody>
            <a:bodyPr anchor="t" rtlCol="false" tIns="0" lIns="0" bIns="0" rIns="0"/>
            <a:lstStyle/>
            <a:p>
              <a:pPr algn="l">
                <a:lnSpc>
                  <a:spcPts val="3311"/>
                </a:lnSpc>
              </a:pPr>
              <a:r>
                <a:rPr lang="en-US" sz="2061" spc="-40">
                  <a:solidFill>
                    <a:srgbClr val="2B2E3C"/>
                  </a:solidFill>
                  <a:latin typeface="Open Sans"/>
                  <a:ea typeface="Open Sans"/>
                  <a:cs typeface="Open Sans"/>
                  <a:sym typeface="Open Sans"/>
                </a:rPr>
                <a:t>TensorFlow offers scalability with GPU/TPU support. Its flexibility suits various applications. A large community provides extensive support. TensorFlow Serving aids production deployment.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DAGknQmZinA</dc:identifier>
  <dcterms:modified xsi:type="dcterms:W3CDTF">2011-08-01T06:04:30Z</dcterms:modified>
  <cp:revision>1</cp:revision>
  <dc:title>DOC-20250414-WA0028.</dc:title>
</cp:coreProperties>
</file>